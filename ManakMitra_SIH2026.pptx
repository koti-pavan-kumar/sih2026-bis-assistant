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sih2026-bis-assistant-ebon.vercel.app/&#13;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FF6B35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914400"/>
            <a:ext cx="3200400" cy="5943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RESONANT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MANAK</a:t>
            </a:r>
            <a:r>
              <a:rPr sz="5200" b="1">
                <a:solidFill>
                  <a:srgbClr val="FF6B35"/>
                </a:solidFill>
              </a:rPr>
              <a:t>MITRA</a:t>
            </a:r>
            <a:endParaRPr sz="5200" b="1">
              <a:solidFill>
                <a:srgbClr val="FF6B3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4648" y="301752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AI-Powered BIS Standards Compliance Assistant
for Indian MSMEs and Manufacturers</a:t>
            </a:r>
            <a:endParaRPr sz="1800">
              <a:solidFill>
                <a:srgbClr val="CCCC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YOUR GUIDE TO BUREAU OF INDIAN STANDARDS</a:t>
            </a:r>
            <a:endParaRPr sz="1400" b="1">
              <a:solidFill>
                <a:srgbClr val="FF6B3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28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IS Standards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22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Languages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25+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BIS Offices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5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Certifications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  <a:endParaRPr sz="1100" b="1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19390" y="99695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System Architecture: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609204" y="1526540"/>
            <a:ext cx="23774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👤 </a:t>
            </a:r>
            <a:r>
              <a:rPr lang="en-US" altLang="en-US" sz="1000" b="0">
                <a:solidFill>
                  <a:srgbClr val="333333"/>
                </a:solidFill>
              </a:rPr>
              <a:t>User Query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609204" y="2203450"/>
            <a:ext cx="237744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🌐 </a:t>
            </a:r>
            <a:r>
              <a:rPr lang="en-US" altLang="en-US" sz="1000" b="0">
                <a:solidFill>
                  <a:srgbClr val="333333"/>
                </a:solidFill>
              </a:rPr>
              <a:t>Auto-Detect → Translate (22 Languages)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429500" y="2848610"/>
            <a:ext cx="2743200" cy="41148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en-US" altLang="en-US" sz="1000" b="1">
                <a:solidFill>
                  <a:srgbClr val="FFFFFF"/>
                </a:solidFill>
              </a:rPr>
              <a:t>⚡ RAG Engine (ONNX + FAISS)</a:t>
            </a:r>
            <a:endParaRPr lang="en-US" altLang="en-US" sz="1000" b="1">
              <a:solidFill>
                <a:srgbClr val="FFFFFF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675120" y="3572510"/>
            <a:ext cx="2011680" cy="34747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800" b="0">
                <a:solidFill>
                  <a:srgbClr val="333333"/>
                </a:solidFill>
              </a:rPr>
              <a:t>🧠 </a:t>
            </a:r>
            <a:r>
              <a:rPr lang="en-US" altLang="en-US" sz="800" b="0">
                <a:solidFill>
                  <a:srgbClr val="333333"/>
                </a:solidFill>
              </a:rPr>
              <a:t>ONNX Embeddings</a:t>
            </a:r>
            <a:r>
              <a:rPr sz="800" b="0">
                <a:solidFill>
                  <a:srgbClr val="333333"/>
                </a:solidFill>
              </a:rPr>
              <a:t>
</a:t>
            </a:r>
            <a:r>
              <a:rPr lang="en-US" altLang="en-US" sz="800" b="0">
                <a:solidFill>
                  <a:srgbClr val="333333"/>
                </a:solidFill>
              </a:rPr>
              <a:t>all-MiniLM-L6-v2</a:t>
            </a:r>
            <a:endParaRPr lang="en-US" altLang="en-US" sz="800" b="0">
              <a:solidFill>
                <a:srgbClr val="333333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869680" y="3572510"/>
            <a:ext cx="2011680" cy="347472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800" b="0">
                <a:solidFill>
                  <a:srgbClr val="333333"/>
                </a:solidFill>
              </a:rPr>
              <a:t>📊 </a:t>
            </a:r>
            <a:r>
              <a:rPr lang="en-US" altLang="en-US" sz="800" b="0">
                <a:solidFill>
                  <a:srgbClr val="333333"/>
                </a:solidFill>
              </a:rPr>
              <a:t>FAISS Vector Store</a:t>
            </a:r>
            <a:r>
              <a:rPr sz="800" b="0">
                <a:solidFill>
                  <a:srgbClr val="333333"/>
                </a:solidFill>
              </a:rPr>
              <a:t>
28 Standards</a:t>
            </a:r>
            <a:endParaRPr sz="800" b="0">
              <a:solidFill>
                <a:srgbClr val="333333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522210" y="4216400"/>
            <a:ext cx="2743200" cy="3657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🤖 </a:t>
            </a:r>
            <a:r>
              <a:rPr lang="en-US" altLang="en-US" sz="1000" b="0">
                <a:solidFill>
                  <a:srgbClr val="333333"/>
                </a:solidFill>
              </a:rPr>
              <a:t>Gemini 3.6 Flash (LLM)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472555" y="4791709"/>
            <a:ext cx="1645920" cy="3200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📚 </a:t>
            </a:r>
            <a:r>
              <a:rPr lang="en-US" altLang="en-US" sz="1000" b="0">
                <a:solidFill>
                  <a:srgbClr val="333333"/>
                </a:solidFill>
              </a:rPr>
              <a:t>BIS Standards</a:t>
            </a:r>
            <a:r>
              <a:rPr sz="1000" b="0">
                <a:solidFill>
                  <a:srgbClr val="333333"/>
                </a:solidFill>
              </a:rPr>
              <a:t> </a:t>
            </a:r>
            <a:r>
              <a:rPr lang="en-US" altLang="en-US" sz="1000" b="0">
                <a:solidFill>
                  <a:srgbClr val="333333"/>
                </a:solidFill>
              </a:rPr>
              <a:t>28 IS Codes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229599" y="4797424"/>
            <a:ext cx="1645920" cy="320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📍 25+ </a:t>
            </a:r>
            <a:r>
              <a:rPr lang="en-US" altLang="en-US" sz="1000" b="0">
                <a:solidFill>
                  <a:srgbClr val="333333"/>
                </a:solidFill>
              </a:rPr>
              <a:t>BIS Office</a:t>
            </a:r>
            <a:r>
              <a:rPr sz="1000" b="0">
                <a:solidFill>
                  <a:srgbClr val="333333"/>
                </a:solidFill>
              </a:rPr>
              <a:t> </a:t>
            </a:r>
            <a:r>
              <a:rPr lang="en-US" altLang="en-US" sz="1000" b="0">
                <a:solidFill>
                  <a:srgbClr val="333333"/>
                </a:solidFill>
              </a:rPr>
              <a:t>Geolocation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986645" y="4791709"/>
            <a:ext cx="164592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🔄 </a:t>
            </a:r>
            <a:r>
              <a:rPr lang="en-US" altLang="en-US" sz="1000" b="0">
                <a:solidFill>
                  <a:srgbClr val="333333"/>
                </a:solidFill>
              </a:rPr>
              <a:t>Auto-Fetch</a:t>
            </a:r>
            <a:endParaRPr lang="en-US" altLang="en-US" sz="1000" b="0">
              <a:solidFill>
                <a:srgbClr val="333333"/>
              </a:solidFill>
            </a:endParaRPr>
          </a:p>
          <a:p>
            <a:pPr algn="ctr"/>
            <a:r>
              <a:rPr lang="en-US" altLang="en-US" sz="1000" b="0">
                <a:solidFill>
                  <a:srgbClr val="333333"/>
                </a:solidFill>
              </a:rPr>
              <a:t>Live BIS Pipeline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315200" y="5370830"/>
            <a:ext cx="3291840" cy="36576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000" b="1">
                <a:solidFill>
                  <a:schemeClr val="tx1"/>
                </a:solidFill>
              </a:rPr>
              <a:t> </a:t>
            </a:r>
            <a:r>
              <a:rPr lang="en-US" altLang="en-US" sz="1000" b="1">
                <a:solidFill>
                  <a:schemeClr val="tx1"/>
                </a:solidFill>
              </a:rPr>
              <a:t>✅ 6-Section Structured Response</a:t>
            </a:r>
            <a:r>
              <a:rPr sz="1000" b="1">
                <a:solidFill>
                  <a:schemeClr val="tx1"/>
                </a:solidFill>
              </a:rPr>
              <a:t>Response</a:t>
            </a:r>
            <a:endParaRPr sz="1000" b="1">
              <a:solidFill>
                <a:schemeClr val="tx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858000" y="6062345"/>
            <a:ext cx="4389120" cy="320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zh-CN" altLang="en-US" sz="1000" b="0">
                <a:solidFill>
                  <a:srgbClr val="333333"/>
                </a:solidFill>
              </a:rPr>
              <a:t>💬 </a:t>
            </a:r>
            <a:r>
              <a:rPr lang="en-US" altLang="en-US" sz="1000" b="0">
                <a:solidFill>
                  <a:srgbClr val="333333"/>
                </a:solidFill>
              </a:rPr>
              <a:t>Chat  |  </a:t>
            </a:r>
            <a:r>
              <a:rPr lang="zh-CN" altLang="en-US" sz="1000" b="0">
                <a:solidFill>
                  <a:srgbClr val="333333"/>
                </a:solidFill>
              </a:rPr>
              <a:t>📚 </a:t>
            </a:r>
            <a:r>
              <a:rPr lang="en-US" altLang="en-US" sz="1000" b="0">
                <a:solidFill>
                  <a:srgbClr val="333333"/>
                </a:solidFill>
              </a:rPr>
              <a:t>Standards Library  |  </a:t>
            </a:r>
            <a:r>
              <a:rPr lang="zh-CN" altLang="en-US" sz="1000" b="0">
                <a:solidFill>
                  <a:srgbClr val="333333"/>
                </a:solidFill>
              </a:rPr>
              <a:t>🏢 </a:t>
            </a:r>
            <a:r>
              <a:rPr lang="en-US" altLang="en-US" sz="1000" b="0">
                <a:solidFill>
                  <a:srgbClr val="333333"/>
                </a:solidFill>
              </a:rPr>
              <a:t>Testing Centres  |  </a:t>
            </a:r>
            <a:r>
              <a:rPr lang="zh-CN" altLang="en-US" sz="1000" b="0">
                <a:solidFill>
                  <a:srgbClr val="333333"/>
                </a:solidFill>
              </a:rPr>
              <a:t>📋 </a:t>
            </a:r>
            <a:r>
              <a:rPr lang="en-US" altLang="en-US" sz="1000" b="0">
                <a:solidFill>
                  <a:srgbClr val="333333"/>
                </a:solidFill>
              </a:rPr>
              <a:t>Certifications</a:t>
            </a:r>
            <a:endParaRPr lang="en-US" altLang="en-US" sz="1000" b="0">
              <a:solidFill>
                <a:srgbClr val="333333"/>
              </a:solidFill>
            </a:endParaRPr>
          </a:p>
        </p:txBody>
      </p:sp>
      <p:sp>
        <p:nvSpPr>
          <p:cNvPr id="50" name="Down Arrow 49"/>
          <p:cNvSpPr/>
          <p:nvPr/>
        </p:nvSpPr>
        <p:spPr>
          <a:xfrm>
            <a:off x="8732520" y="202819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732520" y="2708275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8732520" y="3388995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8732520" y="404495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732520" y="584454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8732520" y="4590415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526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How it addresses the problem: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822325" y="4956810"/>
            <a:ext cx="1188720" cy="11887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SIMPLIFY
COMPLEX
STANDARDS</a:t>
            </a:r>
            <a:endParaRPr sz="700" b="1">
              <a:solidFill>
                <a:srgbClr val="333333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121285" y="5486400"/>
            <a:ext cx="1188720" cy="11887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UNIFIED
COMPLIANCE
PLATFORM</a:t>
            </a:r>
            <a:endParaRPr sz="700" b="1">
              <a:solidFill>
                <a:srgbClr val="333333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1569720" y="5486400"/>
            <a:ext cx="1188720" cy="118872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MULTILINGUAL
AI (22 Lang)</a:t>
            </a:r>
            <a:endParaRPr sz="700" b="1">
              <a:solidFill>
                <a:srgbClr val="333333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1028065" y="5806440"/>
            <a:ext cx="777240" cy="777240"/>
          </a:xfrm>
          <a:prstGeom prst="ellipse">
            <a:avLst/>
          </a:prstGeom>
          <a:solidFill>
            <a:srgbClr val="1A3A6E">
              <a:lumMod val="70000"/>
              <a:lumOff val="30000"/>
            </a:srgbClr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MANAK
MITRA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400425" y="4519295"/>
            <a:ext cx="3072130" cy="3340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 b="1">
                <a:solidFill>
                  <a:srgbClr val="1A3A6E"/>
                </a:solidFill>
              </a:rPr>
              <a:t>Innovation and Uniqueness: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018155" y="4892040"/>
            <a:ext cx="2944495" cy="1685925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bIns="50800" rtlCol="0" anchor="ctr"/>
          <a:lstStyle/>
          <a:p>
            <a:pPr algn="ctr">
              <a:spcAft>
                <a:spcPts val="100"/>
              </a:spcAft>
            </a:pPr>
            <a:endParaRPr sz="900">
              <a:solidFill>
                <a:srgbClr val="333333"/>
              </a:solidFill>
            </a:endParaRP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▸ </a:t>
            </a:r>
            <a:r>
              <a:rPr sz="900" b="1">
                <a:solidFill>
                  <a:srgbClr val="1A3A6E"/>
                </a:solidFill>
              </a:rPr>
              <a:t>Live BIS Pipeline</a:t>
            </a:r>
            <a:r>
              <a:rPr sz="900">
                <a:solidFill>
                  <a:srgbClr val="333333"/>
                </a:solidFill>
              </a:rPr>
              <a:t> — Auto-fetches new standards, knowledge base always current</a:t>
            </a:r>
            <a:endParaRPr sz="900">
              <a:solidFill>
                <a:srgbClr val="333333"/>
              </a:solidFill>
            </a:endParaRP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▸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  <a:r>
              <a:rPr sz="900">
                <a:solidFill>
                  <a:srgbClr val="333333"/>
                </a:solidFill>
              </a:rPr>
              <a:t> — Auto-detect → translate → RAG → translate-back</a:t>
            </a:r>
            <a:endParaRPr sz="900">
              <a:solidFill>
                <a:srgbClr val="333333"/>
              </a:solidFill>
            </a:endParaRP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▸ </a:t>
            </a:r>
            <a:r>
              <a:rPr sz="900" b="1">
                <a:solidFill>
                  <a:srgbClr val="1A3A6E"/>
                </a:solidFill>
              </a:rPr>
              <a:t>6-Section Responses</a:t>
            </a:r>
            <a:r>
              <a:rPr sz="900">
                <a:solidFill>
                  <a:srgbClr val="333333"/>
                </a:solidFill>
              </a:rPr>
              <a:t> — Standards, testing, offices, legal, QC, documents</a:t>
            </a:r>
            <a:endParaRPr sz="900">
              <a:solidFill>
                <a:srgbClr val="333333"/>
              </a:solidFill>
            </a:endParaRP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▸ </a:t>
            </a:r>
            <a:r>
              <a:rPr sz="900" b="1">
                <a:solidFill>
                  <a:srgbClr val="1A3A6E"/>
                </a:solidFill>
              </a:rPr>
              <a:t>Unified Ecosystem</a:t>
            </a:r>
            <a:r>
              <a:rPr sz="900">
                <a:solidFill>
                  <a:srgbClr val="333333"/>
                </a:solidFill>
              </a:rPr>
              <a:t> — Standards + certification + labs + AI in one platfrm</a:t>
            </a:r>
            <a:endParaRPr sz="900">
              <a:solidFill>
                <a:srgbClr val="333333"/>
              </a:solidFill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122555" y="4460240"/>
            <a:ext cx="584009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854960" y="4481195"/>
            <a:ext cx="0" cy="21031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wn Arrow 79"/>
          <p:cNvSpPr/>
          <p:nvPr/>
        </p:nvSpPr>
        <p:spPr>
          <a:xfrm>
            <a:off x="8732520" y="51892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" y="843915"/>
            <a:ext cx="6581775" cy="3363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08500"/>
            <a:ext cx="4777105" cy="20751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3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Key Differentiators</a:t>
            </a:r>
            <a:endParaRPr sz="1300" b="1">
              <a:solidFill>
                <a:srgbClr val="1A3A6E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rcRect l="1665" r="2073" b="2995"/>
          <a:stretch>
            <a:fillRect/>
          </a:stretch>
        </p:blipFill>
        <p:spPr>
          <a:xfrm>
            <a:off x="4551045" y="1633855"/>
            <a:ext cx="7637780" cy="40932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rcRect r="2551"/>
          <a:stretch>
            <a:fillRect/>
          </a:stretch>
        </p:blipFill>
        <p:spPr>
          <a:xfrm>
            <a:off x="184785" y="942340"/>
            <a:ext cx="4366260" cy="2432050"/>
          </a:xfrm>
          <a:prstGeom prst="rect">
            <a:avLst/>
          </a:prstGeom>
        </p:spPr>
      </p:pic>
      <p:sp>
        <p:nvSpPr>
          <p:cNvPr id="26" name="TextBox 14"/>
          <p:cNvSpPr txBox="1"/>
          <p:nvPr/>
        </p:nvSpPr>
        <p:spPr>
          <a:xfrm>
            <a:off x="160655" y="3409950"/>
            <a:ext cx="4250055" cy="37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lang="en-US" sz="1100" b="1">
                <a:solidFill>
                  <a:srgbClr val="FF6B35"/>
                </a:solidFill>
              </a:rPr>
              <a:t>Live Prototype</a:t>
            </a:r>
            <a:r>
              <a:rPr sz="1200" b="1">
                <a:solidFill>
                  <a:srgbClr val="1A3A6E"/>
                </a:solidFill>
              </a:rPr>
              <a:t>:</a:t>
            </a:r>
            <a:r>
              <a:rPr lang="en-US" sz="1200" b="1">
                <a:solidFill>
                  <a:srgbClr val="1A3A6E"/>
                </a:solidFill>
              </a:rPr>
              <a:t> </a:t>
            </a:r>
            <a:r>
              <a:rPr lang="en-US" altLang="en-US" sz="1200" b="1">
                <a:solidFill>
                  <a:srgbClr val="1A3A6E"/>
                </a:solidFill>
                <a:hlinkClick r:id="rId4" tooltip="" action="ppaction://hlinkfile"/>
              </a:rPr>
              <a:t>https</a:t>
            </a:r>
            <a:r>
              <a:rPr lang="en-US" altLang="en-US" sz="1200" b="1">
                <a:solidFill>
                  <a:srgbClr val="1A3A6E"/>
                </a:solidFill>
                <a:hlinkClick r:id="rId4" tooltip="" action="ppaction://hlinkfile"/>
              </a:rPr>
              <a:t>://sih2026-bis-assistant-ebon.vercel.app/</a:t>
            </a:r>
            <a:endParaRPr lang="en-US" altLang="en-US" sz="1200" b="1">
              <a:solidFill>
                <a:srgbClr val="1A3A6E"/>
              </a:solidFill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122555" y="4123055"/>
            <a:ext cx="44284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4551045" y="942340"/>
            <a:ext cx="0" cy="56413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17920" y="411480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  📚 BIS Standards Library — 28 Standards Indexed</a:t>
            </a:r>
            <a:endParaRPr sz="900" b="1">
              <a:solidFill>
                <a:srgbClr val="FFFFFF"/>
              </a:solidFill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230" y="1456690"/>
            <a:ext cx="6348730" cy="444817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rcRect r="1153"/>
          <a:stretch>
            <a:fillRect/>
          </a:stretch>
        </p:blipFill>
        <p:spPr>
          <a:xfrm>
            <a:off x="5793105" y="3647440"/>
            <a:ext cx="6153785" cy="20193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4440"/>
            <a:ext cx="5597525" cy="4670425"/>
          </a:xfrm>
          <a:prstGeom prst="rect">
            <a:avLst/>
          </a:prstGeom>
        </p:spPr>
      </p:pic>
      <p:cxnSp>
        <p:nvCxnSpPr>
          <p:cNvPr id="52" name="Straight Connector 51"/>
          <p:cNvCxnSpPr/>
          <p:nvPr/>
        </p:nvCxnSpPr>
        <p:spPr>
          <a:xfrm>
            <a:off x="5546725" y="1492250"/>
            <a:ext cx="0" cy="417449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0" y="3579495"/>
            <a:ext cx="5546725" cy="0"/>
          </a:xfrm>
          <a:prstGeom prst="line">
            <a:avLst/>
          </a:prstGeom>
          <a:ln w="31750" cap="rnd">
            <a:solidFill>
              <a:schemeClr val="bg1">
                <a:lumMod val="8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7240"/>
            <a:ext cx="12188825" cy="608520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 flipH="1">
            <a:off x="5820410" y="777240"/>
            <a:ext cx="77470" cy="549783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" y="1267460"/>
            <a:ext cx="5349875" cy="432308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777240"/>
            <a:ext cx="6210935" cy="311086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730" y="3600450"/>
            <a:ext cx="5814060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FF6B35">
              <a:lumMod val="12000"/>
              <a:lumOff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</a:t>
            </a:r>
            <a:r>
              <a:rPr sz="4800" b="1">
                <a:solidFill>
                  <a:srgbClr val="FF6B35"/>
                </a:solidFill>
              </a:rPr>
              <a:t>YOU</a:t>
            </a:r>
            <a:endParaRPr sz="4800" b="1">
              <a:solidFill>
                <a:srgbClr val="FF6B35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84648" y="24231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ManakMitra — Making BIS Standards Accessible
to Every Indian Manufacturer</a:t>
            </a:r>
            <a:endParaRPr sz="1800">
              <a:solidFill>
                <a:srgbClr val="CCCCCC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3050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👨‍💻</a:t>
            </a:r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Pavan Kumar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4892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Team Lead / Full Stack Developer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4846320" cy="64008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AAAAA"/>
                </a:solidFill>
              </a:rPr>
              <a:t>Try live at  </a:t>
            </a:r>
            <a:r>
              <a:rPr sz="1400" b="1">
                <a:solidFill>
                  <a:srgbClr val="FF6B35"/>
                </a:solidFill>
              </a:rPr>
              <a:t>manakmitra-frontend.vercel.app</a:t>
            </a:r>
            <a:endParaRPr sz="1400" b="1">
              <a:solidFill>
                <a:srgbClr val="FF6B35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  <a:endParaRPr sz="1100" b="1">
              <a:solidFill>
                <a:srgbClr val="CCCCC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@SIH Idea submission — Team Resonant</a:t>
            </a:r>
            <a:endParaRPr sz="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WPS Presentation</Application>
  <PresentationFormat>On-screen Show (4:3)</PresentationFormat>
  <Paragraphs>132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WPS_1789006356</cp:lastModifiedBy>
  <cp:revision>2</cp:revision>
  <dcterms:created xsi:type="dcterms:W3CDTF">2013-01-27T09:14:00Z</dcterms:created>
  <dcterms:modified xsi:type="dcterms:W3CDTF">2026-09-10T04:02:41Z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A07DBDD954494C83997B1640E8A5F6E4_12</vt:lpwstr>
  </property>
</Properties>
</file>