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2743200" cy="2743200"/>
          </a:xfrm>
          <a:prstGeom prst="ellipse">
            <a:avLst/>
          </a:prstGeom>
          <a:solidFill>
            <a:srgbClr val="FF6B35">
              <a:lumMod val="15000"/>
              <a:lumOff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914400"/>
            <a:ext cx="3200400" cy="594360"/>
          </a:xfrm>
          <a:prstGeom prst="round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RESONANT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MANAK</a:t>
            </a:r>
            <a:r>
              <a:rPr sz="5200" b="1">
                <a:solidFill>
                  <a:srgbClr val="FF6B35"/>
                </a:solidFill>
              </a:rPr>
              <a:t>MITRA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3017520"/>
            <a:ext cx="18288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AI-Powered BIS Standards Compliance Assistant
for Indian MSMEs and Manufacturers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</a:rPr>
              <a:t>YOUR GUIDE TO BUREAU OF INDIAN STANDARDS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IS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Languages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BIS Offices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Certifications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274320"/>
            <a:ext cx="731520" cy="7315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CCCCCC"/>
                </a:solidFill>
              </a:rPr>
              <a:t>SMART INDIA
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Problems Faced &amp; Their Solutions: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5303520" cy="32004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399032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Problems Faced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399032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Proposed Solutions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37360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Complex BIS Standards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175564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AI-based Simplification</a:t>
            </a:r>
          </a:p>
          <a:p>
            <a:r>
              <a:rPr sz="850">
                <a:solidFill>
                  <a:srgbClr val="333333"/>
                </a:solidFill>
              </a:rPr>
              <a:t>Explain technical requirements in simple language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21408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1671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Scattered 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13969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Unified Platform</a:t>
            </a:r>
          </a:p>
          <a:p>
            <a:r>
              <a:rPr sz="850">
                <a:solidFill>
                  <a:srgbClr val="333333"/>
                </a:solidFill>
              </a:rPr>
              <a:t>Bring standards, certification &amp; lab info together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505456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5117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Changing 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2523744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Live Source Pipeline</a:t>
            </a:r>
          </a:p>
          <a:p>
            <a:r>
              <a:rPr sz="850">
                <a:solidFill>
                  <a:srgbClr val="333333"/>
                </a:solidFill>
              </a:rPr>
              <a:t>Pull info from official BIS sources automatically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889503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935223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Finding Testing Labs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90779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Lab Directory</a:t>
            </a:r>
          </a:p>
          <a:p>
            <a:r>
              <a:rPr sz="850">
                <a:solidFill>
                  <a:srgbClr val="333333"/>
                </a:solidFill>
              </a:rPr>
              <a:t>Location-based finder with Google Maps directions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273551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31927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Complex Certification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2918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Step-by-Step Guidance</a:t>
            </a:r>
          </a:p>
          <a:p>
            <a:r>
              <a:rPr sz="850">
                <a:solidFill>
                  <a:srgbClr val="333333"/>
                </a:solidFill>
              </a:rPr>
              <a:t>Clear process for ISI Mark, Hallmark &amp; Eco Mark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599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7033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AI Hallucinations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367588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Source-Grounded RAG</a:t>
            </a:r>
          </a:p>
          <a:p>
            <a:r>
              <a:rPr sz="850">
                <a:solidFill>
                  <a:srgbClr val="333333"/>
                </a:solidFill>
              </a:rPr>
              <a:t>Responses based on verified BIS documents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41648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087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Language Barrier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4059935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22 Indian Languages</a:t>
            </a:r>
          </a:p>
          <a:p>
            <a:r>
              <a:rPr sz="850">
                <a:solidFill>
                  <a:srgbClr val="333333"/>
                </a:solidFill>
              </a:rPr>
              <a:t>Auto-detect → translate → RAG → translate back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25696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471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Different User Needs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443983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Context-Aware AI</a:t>
            </a:r>
          </a:p>
          <a:p>
            <a:r>
              <a:rPr sz="850">
                <a:solidFill>
                  <a:srgbClr val="333333"/>
                </a:solidFill>
              </a:rPr>
              <a:t>Tailors guidance per user product and query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System Architecture: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1417320"/>
            <a:ext cx="237744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User Query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79" y="1920240"/>
            <a:ext cx="2377440" cy="36576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Auto-Detect → Translate
(22 Indian Languages)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2423160"/>
            <a:ext cx="2743200" cy="411480"/>
          </a:xfrm>
          <a:prstGeom prst="roundRect">
            <a:avLst/>
          </a:prstGeom>
          <a:solidFill>
            <a:srgbClr val="1A3A6E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RAG Engine (ONNX + FAISS)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2971800"/>
            <a:ext cx="2011680" cy="347472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ONNX Embeddings
all-MiniLM-L6-v2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95360" y="2971800"/>
            <a:ext cx="2011680" cy="347472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FAISS Vector Store
28 Standards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3474720"/>
            <a:ext cx="2743200" cy="3657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Gemini 3.6 Flash (LLM)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3977639"/>
            <a:ext cx="1645920" cy="320040"/>
          </a:xfrm>
          <a:prstGeom prst="roundRect">
            <a:avLst/>
          </a:prstGeom>
          <a:solidFill>
            <a:srgbClr val="E8EAF6"/>
          </a:solidFill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BIS Standards (28)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3977639"/>
            <a:ext cx="1645920" cy="32004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25+ BIS Offices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92640" y="3977639"/>
            <a:ext cx="1645920" cy="320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Certifications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0" y="4480560"/>
            <a:ext cx="329184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6-Section Structured Response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4983480"/>
            <a:ext cx="4389120" cy="32004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Chat | Standards | Offices | Certifications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8549640" y="182880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8549640" y="233172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8549640" y="288036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own Arrow 52"/>
          <p:cNvSpPr/>
          <p:nvPr/>
        </p:nvSpPr>
        <p:spPr>
          <a:xfrm>
            <a:off x="8549640" y="342900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549640" y="393192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own Arrow 54"/>
          <p:cNvSpPr/>
          <p:nvPr/>
        </p:nvSpPr>
        <p:spPr>
          <a:xfrm>
            <a:off x="8549640" y="443484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4864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How it addresses the problem:</a:t>
            </a:r>
          </a:p>
        </p:txBody>
      </p:sp>
      <p:sp>
        <p:nvSpPr>
          <p:cNvPr id="57" name="Oval 56"/>
          <p:cNvSpPr/>
          <p:nvPr/>
        </p:nvSpPr>
        <p:spPr>
          <a:xfrm>
            <a:off x="914400" y="5760720"/>
            <a:ext cx="1188720" cy="11887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SIMPLIFY
COMPLEX
STANDARDS</a:t>
            </a:r>
          </a:p>
        </p:txBody>
      </p:sp>
      <p:sp>
        <p:nvSpPr>
          <p:cNvPr id="58" name="Oval 57"/>
          <p:cNvSpPr/>
          <p:nvPr/>
        </p:nvSpPr>
        <p:spPr>
          <a:xfrm>
            <a:off x="457200" y="5989320"/>
            <a:ext cx="1188720" cy="118872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UNIFIED
COMPLIANCE
PLATFORM</a:t>
            </a:r>
          </a:p>
        </p:txBody>
      </p:sp>
      <p:sp>
        <p:nvSpPr>
          <p:cNvPr id="59" name="Oval 58"/>
          <p:cNvSpPr/>
          <p:nvPr/>
        </p:nvSpPr>
        <p:spPr>
          <a:xfrm>
            <a:off x="1371600" y="5989320"/>
            <a:ext cx="1188720" cy="118872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MULTILINGUAL
AI (22 Lang)</a:t>
            </a:r>
          </a:p>
        </p:txBody>
      </p:sp>
      <p:sp>
        <p:nvSpPr>
          <p:cNvPr id="60" name="Oval 59"/>
          <p:cNvSpPr/>
          <p:nvPr/>
        </p:nvSpPr>
        <p:spPr>
          <a:xfrm>
            <a:off x="1143000" y="6126480"/>
            <a:ext cx="777240" cy="777240"/>
          </a:xfrm>
          <a:prstGeom prst="ellipse">
            <a:avLst/>
          </a:prstGeom>
          <a:solidFill>
            <a:srgbClr val="1A3A6E">
              <a:lumMod val="70000"/>
              <a:lumOff val="30000"/>
            </a:srgbClr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MANAK
MITRA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5486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Innovation and Uniqueness: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00400" y="5806440"/>
            <a:ext cx="850392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 bIns="50800"/>
          <a:lstStyle/>
          <a:p>
            <a:pPr algn="ctr"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900" b="1">
                <a:solidFill>
                  <a:srgbClr val="1A3A6E"/>
                </a:solidFill>
              </a:rPr>
              <a:t>Source-Grounded RAG</a:t>
            </a:r>
            <a:r>
              <a:rPr sz="900">
                <a:solidFill>
                  <a:srgbClr val="333333"/>
                </a:solidFill>
              </a:rPr>
              <a:t> — ONNX + FAISS ensures hallucination-free, cited responses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900" b="1">
                <a:solidFill>
                  <a:srgbClr val="1A3A6E"/>
                </a:solidFill>
              </a:rPr>
              <a:t>Live BIS Pipeline</a:t>
            </a:r>
            <a:r>
              <a:rPr sz="900">
                <a:solidFill>
                  <a:srgbClr val="333333"/>
                </a:solidFill>
              </a:rPr>
              <a:t> — Auto-fetches new standards, knowledge base always current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900" b="1">
                <a:solidFill>
                  <a:srgbClr val="1A3A6E"/>
                </a:solidFill>
              </a:rPr>
              <a:t>22 Indian Languages</a:t>
            </a:r>
            <a:r>
              <a:rPr sz="900">
                <a:solidFill>
                  <a:srgbClr val="333333"/>
                </a:solidFill>
              </a:rPr>
              <a:t> — Auto-detect → translate → RAG → translate-back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900" b="1">
                <a:solidFill>
                  <a:srgbClr val="1A3A6E"/>
                </a:solidFill>
              </a:rPr>
              <a:t>6-Section Responses</a:t>
            </a:r>
            <a:r>
              <a:rPr sz="900">
                <a:solidFill>
                  <a:srgbClr val="333333"/>
                </a:solidFill>
              </a:rPr>
              <a:t> — Standards, testing, offices, legal, QC, documents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900" b="1">
                <a:solidFill>
                  <a:srgbClr val="1A3A6E"/>
                </a:solidFill>
              </a:rPr>
              <a:t>Unified Ecosystem</a:t>
            </a:r>
            <a:r>
              <a:rPr sz="900">
                <a:solidFill>
                  <a:srgbClr val="333333"/>
                </a:solidFill>
              </a:rPr>
              <a:t> — Standards + certification + labs + AI in one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Tech Stack &amp;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17320"/>
            <a:ext cx="2743200" cy="10058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/>
            <a:r>
              <a:rPr sz="1200" b="1">
                <a:solidFill>
                  <a:srgbClr val="2196F3"/>
                </a:solidFill>
              </a:rPr>
              <a:t>🎨 Frontend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333333"/>
                </a:solidFill>
              </a:rPr>
              <a:t>React 18 + Vite
Responsive SPA, dark/light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17320"/>
            <a:ext cx="2743200" cy="10058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/>
            <a:r>
              <a:rPr sz="1200" b="1">
                <a:solidFill>
                  <a:srgbClr val="4CAF50"/>
                </a:solidFill>
              </a:rPr>
              <a:t>⚙️ Backend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333333"/>
                </a:solidFill>
              </a:rPr>
              <a:t>FastAPI + Python
Async API, structured endpoints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743200" cy="10058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/>
            <a:r>
              <a:rPr sz="1200" b="1">
                <a:solidFill>
                  <a:srgbClr val="FF9800"/>
                </a:solidFill>
              </a:rPr>
              <a:t>🤖 AI / LLM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333333"/>
                </a:solidFill>
              </a:rPr>
              <a:t>Gemini 3.6 Flash
6-section structured responses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560320"/>
            <a:ext cx="2743200" cy="100584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/>
            <a:r>
              <a:rPr sz="1200" b="1">
                <a:solidFill>
                  <a:srgbClr val="9C27B0"/>
                </a:solidFill>
              </a:rPr>
              <a:t>🧠 Embeddings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333333"/>
                </a:solidFill>
              </a:rPr>
              <a:t>ONNX Runtime + FAISS
384-dim vectors, zero hallucination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560320"/>
            <a:ext cx="2743200" cy="1005840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/>
            <a:r>
              <a:rPr sz="1200" b="1">
                <a:solidFill>
                  <a:srgbClr val="E91E63"/>
                </a:solidFill>
              </a:rPr>
              <a:t>🚀 Deployment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333333"/>
                </a:solidFill>
              </a:rPr>
              <a:t>Render (backend) + Vercel (frontend)
Free tier, auto-deploy on push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2743200" cy="100584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/>
            <a:r>
              <a:rPr sz="1200" b="1">
                <a:solidFill>
                  <a:srgbClr val="009688"/>
                </a:solidFill>
              </a:rPr>
              <a:t>🔐 Security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333333"/>
                </a:solidFill>
              </a:rPr>
              <a:t>JWT tokens + bcrypt
Per-user chat isolation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57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Why These Technologies?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931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4CAF50"/>
                </a:solidFill>
              </a:rPr>
              <a:t>✓ </a:t>
            </a:r>
            <a:r>
              <a:rPr sz="1000" b="1">
                <a:solidFill>
                  <a:srgbClr val="1A3A6E"/>
                </a:solidFill>
              </a:rPr>
              <a:t>ONNX over PyTorch</a:t>
            </a:r>
            <a:r>
              <a:rPr sz="1000">
                <a:solidFill>
                  <a:srgbClr val="333333"/>
                </a:solidFill>
              </a:rPr>
              <a:t> — 10x smaller memory (20MB vs 500MB), same accuracy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4CAF50"/>
                </a:solidFill>
              </a:rPr>
              <a:t>✓ </a:t>
            </a:r>
            <a:r>
              <a:rPr sz="1000" b="1">
                <a:solidFill>
                  <a:srgbClr val="1A3A6E"/>
                </a:solidFill>
              </a:rPr>
              <a:t>FAISS over Pinecone</a:t>
            </a:r>
            <a:r>
              <a:rPr sz="1000">
                <a:solidFill>
                  <a:srgbClr val="333333"/>
                </a:solidFill>
              </a:rPr>
              <a:t> — Free, offline-capable, no cloud dependency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4CAF50"/>
                </a:solidFill>
              </a:rPr>
              <a:t>✓ </a:t>
            </a:r>
            <a:r>
              <a:rPr sz="1000" b="1">
                <a:solidFill>
                  <a:srgbClr val="1A3A6E"/>
                </a:solidFill>
              </a:rPr>
              <a:t>FastAPI over Flask</a:t>
            </a:r>
            <a:r>
              <a:rPr sz="1000">
                <a:solidFill>
                  <a:srgbClr val="333333"/>
                </a:solidFill>
              </a:rPr>
              <a:t> — 3x faster async for concurrent queries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4CAF50"/>
                </a:solidFill>
              </a:rPr>
              <a:t>✓ </a:t>
            </a:r>
            <a:r>
              <a:rPr sz="1000" b="1">
                <a:solidFill>
                  <a:srgbClr val="1A3A6E"/>
                </a:solidFill>
              </a:rPr>
              <a:t>Gemini over OpenAI</a:t>
            </a:r>
            <a:r>
              <a:rPr sz="1000">
                <a:solidFill>
                  <a:srgbClr val="333333"/>
                </a:solidFill>
              </a:rPr>
              <a:t> — Free tier, multilingual, no API cost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4CAF50"/>
                </a:solidFill>
              </a:rPr>
              <a:t>✓ </a:t>
            </a:r>
            <a:r>
              <a:rPr sz="1000" b="1">
                <a:solidFill>
                  <a:srgbClr val="1A3A6E"/>
                </a:solidFill>
              </a:rPr>
              <a:t>deep-translator</a:t>
            </a:r>
            <a:r>
              <a:rPr sz="1000">
                <a:solidFill>
                  <a:srgbClr val="333333"/>
                </a:solidFill>
              </a:rPr>
              <a:t> — 22 Indian languages including Telugu, Tamil, Bengali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657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Key Differentiators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977639"/>
            <a:ext cx="54864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/>
          <a:lstStyle/>
          <a:p>
            <a:pPr algn="ctr">
              <a:spcAft>
                <a:spcPts val="3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1000" b="1">
                <a:solidFill>
                  <a:srgbClr val="1A3A6E"/>
                </a:solidFill>
              </a:rPr>
              <a:t>vs ChatGPT:</a:t>
            </a:r>
            <a:r>
              <a:rPr sz="1000">
                <a:solidFill>
                  <a:srgbClr val="333333"/>
                </a:solidFill>
              </a:rPr>
              <a:t> Domain-specific RAG with verified BIS documents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1000" b="1">
                <a:solidFill>
                  <a:srgbClr val="1A3A6E"/>
                </a:solidFill>
              </a:rPr>
              <a:t>vs BIS Website:</a:t>
            </a:r>
            <a:r>
              <a:rPr sz="1000">
                <a:solidFill>
                  <a:srgbClr val="333333"/>
                </a:solidFill>
              </a:rPr>
              <a:t> Plain English + multi-language, not technical jargon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1000" b="1">
                <a:solidFill>
                  <a:srgbClr val="1A3A6E"/>
                </a:solidFill>
              </a:rPr>
              <a:t>vs Consultants:</a:t>
            </a:r>
            <a:r>
              <a:rPr sz="1000">
                <a:solidFill>
                  <a:srgbClr val="333333"/>
                </a:solidFill>
              </a:rPr>
              <a:t> Free, instant, 24/7 — no appointment needed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FF6B35"/>
                </a:solidFill>
              </a:rPr>
              <a:t>▸ </a:t>
            </a:r>
            <a:r>
              <a:rPr sz="1000" b="1">
                <a:solidFill>
                  <a:srgbClr val="1A3A6E"/>
                </a:solidFill>
              </a:rPr>
              <a:t>vs Manual:</a:t>
            </a:r>
            <a:r>
              <a:rPr sz="1000">
                <a:solidFill>
                  <a:srgbClr val="333333"/>
                </a:solidFill>
              </a:rPr>
              <a:t> 6-section answer in 20 sec vs hours of searching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212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Scalability Roadmap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532120"/>
            <a:ext cx="5486400" cy="96012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A3A6E"/>
                </a:solidFill>
              </a:rPr>
              <a:t>Phase 1 (Done):</a:t>
            </a:r>
            <a:r>
              <a:rPr sz="950">
                <a:solidFill>
                  <a:srgbClr val="333333"/>
                </a:solidFill>
              </a:rPr>
              <a:t> Index all 28,000+ BIS standards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A3A6E"/>
                </a:solidFill>
              </a:rPr>
              <a:t>Phase 2:</a:t>
            </a:r>
            <a:r>
              <a:rPr sz="950">
                <a:solidFill>
                  <a:srgbClr val="333333"/>
                </a:solidFill>
              </a:rPr>
              <a:t> PostgreSQL + Redis for production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A3A6E"/>
                </a:solidFill>
              </a:rPr>
              <a:t>Phase 3:</a:t>
            </a:r>
            <a:r>
              <a:rPr sz="950">
                <a:solidFill>
                  <a:srgbClr val="333333"/>
                </a:solidFill>
              </a:rPr>
              <a:t> Mobile app + voice + WhatsApp bot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A3A6E"/>
                </a:solidFill>
              </a:rPr>
              <a:t>Phase 4:</a:t>
            </a:r>
            <a:r>
              <a:rPr sz="950">
                <a:solidFill>
                  <a:srgbClr val="333333"/>
                </a:solidFill>
              </a:rPr>
              <a:t> BIS e-governance portal integration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Live Demo — Key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71600"/>
            <a:ext cx="5303520" cy="5943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71600"/>
            <a:ext cx="54864" cy="5943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4447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44475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Multilingual AI Chat</a:t>
            </a:r>
          </a:p>
          <a:p>
            <a:r>
              <a:rPr sz="950">
                <a:solidFill>
                  <a:srgbClr val="333333"/>
                </a:solidFill>
              </a:rPr>
              <a:t>Ask in Hindi, Telugu, Tamil, Bengali or 18 other Indian languages. Auto-detects and responds in same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057400"/>
            <a:ext cx="5303520" cy="5943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057400"/>
            <a:ext cx="54864" cy="5943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305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13055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6-Section Structured Response</a:t>
            </a:r>
          </a:p>
          <a:p>
            <a:r>
              <a:rPr sz="950">
                <a:solidFill>
                  <a:srgbClr val="333333"/>
                </a:solidFill>
              </a:rPr>
              <a:t>Standards, testing, BIS offices, legal basis, QC process, and documents — every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743200"/>
            <a:ext cx="5303520" cy="5943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743200"/>
            <a:ext cx="54864" cy="5943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163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81635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Live Auto-Fetch Pipeline</a:t>
            </a:r>
          </a:p>
          <a:p>
            <a:r>
              <a:rPr sz="950">
                <a:solidFill>
                  <a:srgbClr val="333333"/>
                </a:solidFill>
              </a:rPr>
              <a:t>Scrapes bis.gov.in for new standards and indexes them automatically.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429000"/>
            <a:ext cx="5303520" cy="5943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54864" cy="5943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5021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50215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BIS Office Finder</a:t>
            </a:r>
          </a:p>
          <a:p>
            <a:r>
              <a:rPr sz="950">
                <a:solidFill>
                  <a:srgbClr val="333333"/>
                </a:solidFill>
              </a:rPr>
              <a:t>GPS-based nearest centre with directions, phone numbers, services.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114800"/>
            <a:ext cx="5303520" cy="5943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114800"/>
            <a:ext cx="54864" cy="5943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187952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18795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Certification Guide</a:t>
            </a:r>
          </a:p>
          <a:p>
            <a:r>
              <a:rPr sz="950">
                <a:solidFill>
                  <a:srgbClr val="333333"/>
                </a:solidFill>
              </a:rPr>
              <a:t>Step-by-step for ISI Mark, Hallmark, Eco Mark, CMVR, MSME Udyam.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App Screenshots: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141732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1417320"/>
            <a:ext cx="5303520" cy="32004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  🏛️ ManakMitra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1920240"/>
            <a:ext cx="2743200" cy="32004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800">
                <a:solidFill>
                  <a:srgbClr val="FFFFFF"/>
                </a:solidFill>
              </a:rPr>
              <a:t>What are the standards for cement?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2377440"/>
            <a:ext cx="4937760" cy="2743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📋 1. Applicable IS Standards — IS 269, IS 455, IS 8112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743200"/>
            <a:ext cx="4937760" cy="27432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🔬 2. Testing Requirements — Compressive strength per IS 4031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3108960"/>
            <a:ext cx="4937760" cy="274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📍 3. Where to Test — BIS Lab Delhi: 011-23232323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474720"/>
            <a:ext cx="4937760" cy="27432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tIns="254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⚖️ 4. Mandatory — Yes, under BIS Act 2016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11480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4114800"/>
            <a:ext cx="5303520" cy="274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  📚 BIS Standards Library — 28 Standards Indexed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526280"/>
            <a:ext cx="1554480" cy="868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508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CEMENT</a:t>
            </a:r>
          </a:p>
          <a:p>
            <a:r>
              <a:rPr sz="1100" b="1">
                <a:solidFill>
                  <a:srgbClr val="1A3A6E"/>
                </a:solidFill>
              </a:rPr>
              <a:t>IS 269</a:t>
            </a:r>
          </a:p>
          <a:p>
            <a:r>
              <a:rPr sz="800">
                <a:solidFill>
                  <a:srgbClr val="333333"/>
                </a:solidFill>
              </a:rPr>
              <a:t>Ordinary Portland Cement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4526280"/>
            <a:ext cx="1554480" cy="868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508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STEEL</a:t>
            </a:r>
          </a:p>
          <a:p>
            <a:r>
              <a:rPr sz="1100" b="1">
                <a:solidFill>
                  <a:srgbClr val="1A3A6E"/>
                </a:solidFill>
              </a:rPr>
              <a:t>IS 2062</a:t>
            </a:r>
          </a:p>
          <a:p>
            <a:r>
              <a:rPr sz="800">
                <a:solidFill>
                  <a:srgbClr val="333333"/>
                </a:solidFill>
              </a:rPr>
              <a:t>Structural Steel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20" y="4526280"/>
            <a:ext cx="1554480" cy="868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508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ELECTRICAL</a:t>
            </a:r>
          </a:p>
          <a:p>
            <a:r>
              <a:rPr sz="1100" b="1">
                <a:solidFill>
                  <a:srgbClr val="1A3A6E"/>
                </a:solidFill>
              </a:rPr>
              <a:t>IS 302</a:t>
            </a:r>
          </a:p>
          <a:p>
            <a:r>
              <a:rPr sz="800">
                <a:solidFill>
                  <a:srgbClr val="333333"/>
                </a:solidFill>
              </a:rPr>
              <a:t>Household Appliances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5532120"/>
            <a:ext cx="1554480" cy="868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508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FOOD</a:t>
            </a:r>
          </a:p>
          <a:p>
            <a:r>
              <a:rPr sz="1100" b="1">
                <a:solidFill>
                  <a:srgbClr val="1A3A6E"/>
                </a:solidFill>
              </a:rPr>
              <a:t>IS 14543</a:t>
            </a:r>
          </a:p>
          <a:p>
            <a:r>
              <a:rPr sz="800">
                <a:solidFill>
                  <a:srgbClr val="333333"/>
                </a:solidFill>
              </a:rPr>
              <a:t>Packaged Drinking Water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38160" y="5532120"/>
            <a:ext cx="1554480" cy="868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508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ELECTRICAL</a:t>
            </a:r>
          </a:p>
          <a:p>
            <a:r>
              <a:rPr sz="1100" b="1">
                <a:solidFill>
                  <a:srgbClr val="1A3A6E"/>
                </a:solidFill>
              </a:rPr>
              <a:t>IS 15556</a:t>
            </a:r>
          </a:p>
          <a:p>
            <a:r>
              <a:rPr sz="800">
                <a:solidFill>
                  <a:srgbClr val="333333"/>
                </a:solidFill>
              </a:rPr>
              <a:t>LED Lamps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75520" y="5532120"/>
            <a:ext cx="1554480" cy="868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508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LEATHER</a:t>
            </a:r>
          </a:p>
          <a:p>
            <a:r>
              <a:rPr sz="1100" b="1">
                <a:solidFill>
                  <a:srgbClr val="1A3A6E"/>
                </a:solidFill>
              </a:rPr>
              <a:t>IS 3289</a:t>
            </a:r>
          </a:p>
          <a:p>
            <a:r>
              <a:rPr sz="800">
                <a:solidFill>
                  <a:srgbClr val="333333"/>
                </a:solidFill>
              </a:rPr>
              <a:t>Finished Leather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Impact &amp; Target 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17320"/>
            <a:ext cx="1737360" cy="82296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6B35"/>
                </a:solidFill>
              </a:rPr>
              <a:t>63M+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MSMEs in India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417320"/>
            <a:ext cx="1737360" cy="82296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6B35"/>
                </a:solidFill>
              </a:rPr>
              <a:t>28K+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BIS Standards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417320"/>
            <a:ext cx="1737360" cy="82296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6B35"/>
                </a:solidFill>
              </a:rPr>
              <a:t>₹2.5L Cr</a:t>
            </a:r>
          </a:p>
          <a:p>
            <a:pPr algn="ctr"/>
            <a:r>
              <a:rPr sz="900">
                <a:solidFill>
                  <a:srgbClr val="CCCCCC"/>
                </a:solidFill>
              </a:rPr>
              <a:t>Compliance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Who Benefits?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697480"/>
            <a:ext cx="25603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80720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77063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MSMEs &amp; Manufacturers</a:t>
            </a:r>
          </a:p>
          <a:p>
            <a:r>
              <a:rPr sz="900">
                <a:solidFill>
                  <a:srgbClr val="333333"/>
                </a:solidFill>
              </a:rPr>
              <a:t>Quick standards + certification answers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2697480"/>
            <a:ext cx="25603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280720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🏗️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77063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Construction Companies</a:t>
            </a:r>
          </a:p>
          <a:p>
            <a:r>
              <a:rPr sz="900">
                <a:solidFill>
                  <a:srgbClr val="333333"/>
                </a:solidFill>
              </a:rPr>
              <a:t>Steel, cement compliance guidance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611880"/>
            <a:ext cx="25603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2160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8503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Testing Labs</a:t>
            </a:r>
          </a:p>
          <a:p>
            <a:r>
              <a:rPr sz="900">
                <a:solidFill>
                  <a:srgbClr val="333333"/>
                </a:solidFill>
              </a:rPr>
              <a:t>Reference standards for procedures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3611880"/>
            <a:ext cx="25603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372160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👩‍💼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8503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3A6E"/>
                </a:solidFill>
              </a:rPr>
              <a:t>Quality Managers</a:t>
            </a:r>
          </a:p>
          <a:p>
            <a:r>
              <a:rPr sz="900">
                <a:solidFill>
                  <a:srgbClr val="333333"/>
                </a:solidFill>
              </a:rPr>
              <a:t>Stay updated via auto-fetch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Development Roadmap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417320"/>
            <a:ext cx="1005840" cy="2743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✓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1399032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MVP — Working Prototype</a:t>
            </a:r>
          </a:p>
          <a:p>
            <a:r>
              <a:rPr sz="900">
                <a:solidFill>
                  <a:srgbClr val="333333"/>
                </a:solidFill>
              </a:rPr>
              <a:t>28 standards, 22 languages, RAG, auth, 6-section responses, BIS finder, cert guides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194560"/>
            <a:ext cx="1005840" cy="2743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NOW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176272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Scale — Full BIS Coverage</a:t>
            </a:r>
          </a:p>
          <a:p>
            <a:r>
              <a:rPr sz="900">
                <a:solidFill>
                  <a:srgbClr val="333333"/>
                </a:solidFill>
              </a:rPr>
              <a:t>Index all 28,000+ standards, PDF viewer, WhatsApp bot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971800"/>
            <a:ext cx="1005840" cy="274320"/>
          </a:xfrm>
          <a:prstGeom prst="round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FUTURE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953512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Production — Enterprise</a:t>
            </a:r>
          </a:p>
          <a:p>
            <a:r>
              <a:rPr sz="900">
                <a:solidFill>
                  <a:srgbClr val="333333"/>
                </a:solidFill>
              </a:rPr>
              <a:t>PostgreSQL + Redis, mobile app, voice, BIS integration, SaaS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Business Model &amp; Monetization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983480"/>
            <a:ext cx="11338560" cy="14173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✦ </a:t>
            </a:r>
            <a:r>
              <a:rPr sz="1000" b="1">
                <a:solidFill>
                  <a:srgbClr val="1A3A6E"/>
                </a:solidFill>
              </a:rPr>
              <a:t>Free Tier:</a:t>
            </a:r>
            <a:r>
              <a:rPr sz="1000">
                <a:solidFill>
                  <a:srgbClr val="333333"/>
                </a:solidFill>
              </a:rPr>
              <a:t> 10 queries/day for individual users — basic compliance questions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✦ </a:t>
            </a:r>
            <a:r>
              <a:rPr sz="1000" b="1">
                <a:solidFill>
                  <a:srgbClr val="1A3A6E"/>
                </a:solidFill>
              </a:rPr>
              <a:t>MSME Plan (₹499/mo):</a:t>
            </a:r>
            <a:r>
              <a:rPr sz="1000">
                <a:solidFill>
                  <a:srgbClr val="333333"/>
                </a:solidFill>
              </a:rPr>
              <a:t> Unlimited queries + compliance calendar + document generator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✦ </a:t>
            </a:r>
            <a:r>
              <a:rPr sz="1000" b="1">
                <a:solidFill>
                  <a:srgbClr val="1A3A6E"/>
                </a:solidFill>
              </a:rPr>
              <a:t>Enterprise (₹4,999/mo):</a:t>
            </a:r>
            <a:r>
              <a:rPr sz="1000">
                <a:solidFill>
                  <a:srgbClr val="333333"/>
                </a:solidFill>
              </a:rPr>
              <a:t> API access + bulk standard check + dedicated support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✦ </a:t>
            </a:r>
            <a:r>
              <a:rPr sz="1000" b="1">
                <a:solidFill>
                  <a:srgbClr val="1A3A6E"/>
                </a:solidFill>
              </a:rPr>
              <a:t>BIS Partnership:</a:t>
            </a:r>
            <a:r>
              <a:rPr sz="1000">
                <a:solidFill>
                  <a:srgbClr val="333333"/>
                </a:solidFill>
              </a:rPr>
              <a:t> Official data provider status — revenue share on certified leads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FF6B35"/>
                </a:solidFill>
              </a:rPr>
              <a:t>✦ </a:t>
            </a:r>
            <a:r>
              <a:rPr sz="1000" b="1">
                <a:solidFill>
                  <a:srgbClr val="1A3A6E"/>
                </a:solidFill>
              </a:rPr>
              <a:t>Government Grant:</a:t>
            </a:r>
            <a:r>
              <a:rPr sz="1000">
                <a:solidFill>
                  <a:srgbClr val="333333"/>
                </a:solidFill>
              </a:rPr>
              <a:t> Apply under MSME Samadhaan scheme for funding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3657600" cy="3657600"/>
          </a:xfrm>
          <a:prstGeom prst="ellipse">
            <a:avLst/>
          </a:prstGeom>
          <a:solidFill>
            <a:srgbClr val="FF6B35">
              <a:lumMod val="12000"/>
              <a:lumOff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</a:t>
            </a:r>
            <a:r>
              <a:rPr sz="4800" b="1">
                <a:solidFill>
                  <a:srgbClr val="FF6B35"/>
                </a:solidFill>
              </a:rPr>
              <a:t>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2423160"/>
            <a:ext cx="18288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65176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ManakMitra — Making BIS Standards Accessible
to Every Indian Manufacturer</a:t>
            </a:r>
          </a:p>
        </p:txBody>
      </p:sp>
      <p:sp>
        <p:nvSpPr>
          <p:cNvPr id="7" name="Oval 6"/>
          <p:cNvSpPr/>
          <p:nvPr/>
        </p:nvSpPr>
        <p:spPr>
          <a:xfrm>
            <a:off x="5641848" y="3566160"/>
            <a:ext cx="914400" cy="914400"/>
          </a:xfrm>
          <a:prstGeom prst="ellipse">
            <a:avLst/>
          </a:prstGeom>
          <a:solidFill>
            <a:srgbClr val="30508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/>
              <a:t>👨‍💻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572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Pavan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48920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Team Lead / Full Stack Developer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5303520"/>
            <a:ext cx="4846320" cy="64008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AAAAAA"/>
                </a:solidFill>
              </a:rPr>
              <a:t>Try live at  </a:t>
            </a:r>
            <a:r>
              <a:rPr sz="1400" b="1">
                <a:solidFill>
                  <a:srgbClr val="FF6B35"/>
                </a:solidFill>
              </a:rPr>
              <a:t>manakmitra-frontend.vercel.app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0" y="274320"/>
            <a:ext cx="731520" cy="7315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74320"/>
            <a:ext cx="1188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CCCCC"/>
                </a:solidFill>
              </a:rPr>
              <a:t>SMART INDIA
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</a:rPr>
              <a:t>@SIH Idea submission — Team Resonant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