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457200"/>
            <a:ext cx="2743200" cy="2743200"/>
          </a:xfrm>
          <a:prstGeom prst="ellipse">
            <a:avLst/>
          </a:prstGeom>
          <a:solidFill>
            <a:srgbClr val="FF6B35">
              <a:lumMod val="15000"/>
              <a:lumOff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480560" y="914400"/>
            <a:ext cx="3200400" cy="594360"/>
          </a:xfrm>
          <a:prstGeom prst="roundRect">
            <a:avLst/>
          </a:prstGeom>
          <a:noFill/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RESONANT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828800"/>
            <a:ext cx="94183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5200" b="1">
                <a:solidFill>
                  <a:srgbClr val="FFFFFF"/>
                </a:solidFill>
              </a:rPr>
              <a:t>MANAK</a:t>
            </a:r>
            <a:r>
              <a:rPr sz="5200" b="1">
                <a:solidFill>
                  <a:srgbClr val="FF6B35"/>
                </a:solidFill>
              </a:rPr>
              <a:t>MITRA</a:t>
            </a:r>
          </a:p>
        </p:txBody>
      </p:sp>
      <p:sp>
        <p:nvSpPr>
          <p:cNvPr id="6" name="Rectangle 5"/>
          <p:cNvSpPr/>
          <p:nvPr/>
        </p:nvSpPr>
        <p:spPr>
          <a:xfrm>
            <a:off x="5184648" y="3017520"/>
            <a:ext cx="1828800" cy="36576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0" y="3291840"/>
            <a:ext cx="8503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>
                <a:solidFill>
                  <a:srgbClr val="CCCCCC"/>
                </a:solidFill>
              </a:rPr>
              <a:t>AI-Powered BIS Standards Compliance Assistant
for Indian MSMEs and Manufacturers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4114800"/>
            <a:ext cx="8503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6B35"/>
                </a:solidFill>
              </a:rPr>
              <a:t>YOUR GUIDE TO BUREAU OF INDIAN STANDARDS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4846320"/>
            <a:ext cx="1645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200" b="1">
                <a:solidFill>
                  <a:srgbClr val="FF6B35"/>
                </a:solidFill>
              </a:rPr>
              <a:t>28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0" y="5349240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AAAAAA"/>
                </a:solidFill>
              </a:rPr>
              <a:t>IS Standards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4846320"/>
            <a:ext cx="1645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200" b="1">
                <a:solidFill>
                  <a:srgbClr val="FF6B35"/>
                </a:solidFill>
              </a:rPr>
              <a:t>22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5349240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AAAAAA"/>
                </a:solidFill>
              </a:rPr>
              <a:t>Languages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4846320"/>
            <a:ext cx="1645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200" b="1">
                <a:solidFill>
                  <a:srgbClr val="FF6B35"/>
                </a:solidFill>
              </a:rPr>
              <a:t>25+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5349240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AAAAAA"/>
                </a:solidFill>
              </a:rPr>
              <a:t>BIS Offices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4846320"/>
            <a:ext cx="1645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200" b="1">
                <a:solidFill>
                  <a:srgbClr val="FF6B35"/>
                </a:solidFill>
              </a:rP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5349240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AAAAAA"/>
                </a:solidFill>
              </a:rPr>
              <a:t>Certifications</a:t>
            </a:r>
          </a:p>
        </p:txBody>
      </p:sp>
      <p:sp>
        <p:nvSpPr>
          <p:cNvPr id="17" name="Oval 16"/>
          <p:cNvSpPr/>
          <p:nvPr/>
        </p:nvSpPr>
        <p:spPr>
          <a:xfrm>
            <a:off x="10972800" y="274320"/>
            <a:ext cx="731520" cy="731520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SIH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92640" y="274320"/>
            <a:ext cx="1188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CCCCCC"/>
                </a:solidFill>
              </a:rPr>
              <a:t>SMART INDIA
HACKATHON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FFFFFF"/>
          </a:solidFill>
          <a:ln w="25400">
            <a:solidFill>
              <a:srgbClr val="1A3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09728"/>
            <a:ext cx="1463040" cy="502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A3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1A3A6E"/>
                </a:solidFill>
              </a:rPr>
              <a:t>Resonant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0" y="109728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1A3A6E"/>
                </a:solidFill>
              </a:rPr>
              <a:t>MANAKMITRA</a:t>
            </a:r>
          </a:p>
        </p:txBody>
      </p:sp>
      <p:sp>
        <p:nvSpPr>
          <p:cNvPr id="5" name="Oval 4"/>
          <p:cNvSpPr/>
          <p:nvPr/>
        </p:nvSpPr>
        <p:spPr>
          <a:xfrm>
            <a:off x="10972800" y="91440"/>
            <a:ext cx="594360" cy="594360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SIH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109728"/>
            <a:ext cx="1005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1A3A6E"/>
                </a:solidFill>
              </a:rPr>
              <a:t>SMART INDIA
HACKATHON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8368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999999"/>
                </a:solidFill>
              </a:rPr>
              <a:t>@SIH Idea submission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0" y="658368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999999"/>
                </a:solidFill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00584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A3A6E"/>
                </a:solidFill>
              </a:rPr>
              <a:t>Problems Faced &amp; Their Solutions: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371600"/>
            <a:ext cx="5303520" cy="320040"/>
          </a:xfrm>
          <a:prstGeom prst="rect">
            <a:avLst/>
          </a:prstGeom>
          <a:solidFill>
            <a:srgbClr val="1A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1399032"/>
            <a:ext cx="2468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Problems Faced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08960" y="1399032"/>
            <a:ext cx="2468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Proposed Solutions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1737360"/>
            <a:ext cx="53035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178308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C0392B"/>
                </a:solidFill>
              </a:rPr>
              <a:t>Complex BIS Standards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63240" y="1755648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1A3A6E"/>
                </a:solidFill>
              </a:rPr>
              <a:t>AI-based Simplification</a:t>
            </a:r>
          </a:p>
          <a:p>
            <a:r>
              <a:rPr sz="850">
                <a:solidFill>
                  <a:srgbClr val="333333"/>
                </a:solidFill>
              </a:rPr>
              <a:t>Explain technical requirements in simple language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2121408"/>
            <a:ext cx="5303520" cy="384048"/>
          </a:xfrm>
          <a:prstGeom prst="rect">
            <a:avLst/>
          </a:prstGeom>
          <a:solidFill>
            <a:srgbClr val="F5F5F5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2167127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C0392B"/>
                </a:solidFill>
              </a:rPr>
              <a:t>Scattered Information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63240" y="2139696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1A3A6E"/>
                </a:solidFill>
              </a:rPr>
              <a:t>Unified Platform</a:t>
            </a:r>
          </a:p>
          <a:p>
            <a:r>
              <a:rPr sz="850">
                <a:solidFill>
                  <a:srgbClr val="333333"/>
                </a:solidFill>
              </a:rPr>
              <a:t>Bring standards, certification &amp; lab info together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2505456"/>
            <a:ext cx="53035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2551175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C0392B"/>
                </a:solidFill>
              </a:rPr>
              <a:t>Changing Standards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63240" y="2523744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1A3A6E"/>
                </a:solidFill>
              </a:rPr>
              <a:t>Live Source Pipeline</a:t>
            </a:r>
          </a:p>
          <a:p>
            <a:r>
              <a:rPr sz="850">
                <a:solidFill>
                  <a:srgbClr val="333333"/>
                </a:solidFill>
              </a:rPr>
              <a:t>Pull info from official BIS sources automatically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2889503"/>
            <a:ext cx="5303520" cy="384048"/>
          </a:xfrm>
          <a:prstGeom prst="rect">
            <a:avLst/>
          </a:prstGeom>
          <a:solidFill>
            <a:srgbClr val="F5F5F5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2935223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C0392B"/>
                </a:solidFill>
              </a:rPr>
              <a:t>Finding Testing Labs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063240" y="2907791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1A3A6E"/>
                </a:solidFill>
              </a:rPr>
              <a:t>Lab Directory</a:t>
            </a:r>
          </a:p>
          <a:p>
            <a:r>
              <a:rPr sz="850">
                <a:solidFill>
                  <a:srgbClr val="333333"/>
                </a:solidFill>
              </a:rPr>
              <a:t>Location-based finder with Google Maps directions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3273551"/>
            <a:ext cx="53035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3319271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C0392B"/>
                </a:solidFill>
              </a:rPr>
              <a:t>Complex Certification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063240" y="3291839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1A3A6E"/>
                </a:solidFill>
              </a:rPr>
              <a:t>Step-by-Step Guidance</a:t>
            </a:r>
          </a:p>
          <a:p>
            <a:r>
              <a:rPr sz="850">
                <a:solidFill>
                  <a:srgbClr val="333333"/>
                </a:solidFill>
              </a:rPr>
              <a:t>Clear process for ISI Mark, Hallmark &amp; Eco Mark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3657599"/>
            <a:ext cx="5303520" cy="384048"/>
          </a:xfrm>
          <a:prstGeom prst="rect">
            <a:avLst/>
          </a:prstGeom>
          <a:solidFill>
            <a:srgbClr val="F5F5F5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370332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C0392B"/>
                </a:solidFill>
              </a:rPr>
              <a:t>AI Hallucinations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063240" y="3675887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1A3A6E"/>
                </a:solidFill>
              </a:rPr>
              <a:t>Source-Grounded RAG</a:t>
            </a:r>
          </a:p>
          <a:p>
            <a:r>
              <a:rPr sz="850">
                <a:solidFill>
                  <a:srgbClr val="333333"/>
                </a:solidFill>
              </a:rPr>
              <a:t>Responses based on verified BIS documents only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5760" y="4041648"/>
            <a:ext cx="53035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7200" y="4087368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C0392B"/>
                </a:solidFill>
              </a:rPr>
              <a:t>Language Barrier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063240" y="4059935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1A3A6E"/>
                </a:solidFill>
              </a:rPr>
              <a:t>22 Indian Languages</a:t>
            </a:r>
          </a:p>
          <a:p>
            <a:r>
              <a:rPr sz="850">
                <a:solidFill>
                  <a:srgbClr val="333333"/>
                </a:solidFill>
              </a:rPr>
              <a:t>Auto-detect, translate, RAG, translate back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65760" y="4425696"/>
            <a:ext cx="5303520" cy="384048"/>
          </a:xfrm>
          <a:prstGeom prst="rect">
            <a:avLst/>
          </a:prstGeom>
          <a:solidFill>
            <a:srgbClr val="F5F5F5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7200" y="4471416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C0392B"/>
                </a:solidFill>
              </a:rPr>
              <a:t>Different User Needs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063240" y="4443983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1A3A6E"/>
                </a:solidFill>
              </a:rPr>
              <a:t>Context-Aware AI</a:t>
            </a:r>
          </a:p>
          <a:p>
            <a:r>
              <a:rPr sz="850">
                <a:solidFill>
                  <a:srgbClr val="333333"/>
                </a:solidFill>
              </a:rPr>
              <a:t>Tailors guidance per user product and query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17920" y="100584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A3A6E"/>
                </a:solidFill>
              </a:rPr>
              <a:t>System Architecture: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498079" y="1417320"/>
            <a:ext cx="2377440" cy="365760"/>
          </a:xfrm>
          <a:prstGeom prst="roundRect">
            <a:avLst/>
          </a:prstGeom>
          <a:solidFill>
            <a:srgbClr val="E8F5E9"/>
          </a:solidFill>
          <a:ln w="1905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/>
          <a:lstStyle/>
          <a:p>
            <a:pPr algn="ctr"/>
            <a:r>
              <a:rPr sz="900" b="0">
                <a:solidFill>
                  <a:srgbClr val="333333"/>
                </a:solidFill>
              </a:rPr>
              <a:t>User Query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498079" y="1920240"/>
            <a:ext cx="2377440" cy="365760"/>
          </a:xfrm>
          <a:prstGeom prst="roundRect">
            <a:avLst/>
          </a:prstGeom>
          <a:solidFill>
            <a:srgbClr val="E3F2FD"/>
          </a:solidFill>
          <a:ln w="19050"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/>
          <a:lstStyle/>
          <a:p>
            <a:pPr algn="ctr"/>
            <a:r>
              <a:rPr sz="900" b="0">
                <a:solidFill>
                  <a:srgbClr val="333333"/>
                </a:solidFill>
              </a:rPr>
              <a:t>Auto-Detect, Translate (22 Lang)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315200" y="2423160"/>
            <a:ext cx="2743200" cy="411480"/>
          </a:xfrm>
          <a:prstGeom prst="roundRect">
            <a:avLst/>
          </a:prstGeom>
          <a:solidFill>
            <a:srgbClr val="1A3A6E"/>
          </a:solidFill>
          <a:ln w="19050">
            <a:solidFill>
              <a:srgbClr val="1A3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/>
          <a:lstStyle/>
          <a:p>
            <a:pPr algn="ctr"/>
            <a:r>
              <a:rPr sz="900" b="1">
                <a:solidFill>
                  <a:srgbClr val="FFFFFF"/>
                </a:solidFill>
              </a:rPr>
              <a:t>RAG Engine (ONNX + FAISS)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400800" y="2971800"/>
            <a:ext cx="2011680" cy="347472"/>
          </a:xfrm>
          <a:prstGeom prst="roundRect">
            <a:avLst/>
          </a:prstGeom>
          <a:solidFill>
            <a:srgbClr val="F3E5F5"/>
          </a:solidFill>
          <a:ln w="19050">
            <a:solidFill>
              <a:srgbClr val="9C27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/>
          <a:lstStyle/>
          <a:p>
            <a:pPr algn="ctr"/>
            <a:r>
              <a:rPr sz="800" b="0">
                <a:solidFill>
                  <a:srgbClr val="333333"/>
                </a:solidFill>
              </a:rPr>
              <a:t>ONNX Embeddings</a:t>
            </a:r>
          </a:p>
          <a:p>
            <a:pPr algn="ctr"/>
            <a:r>
              <a:rPr sz="700">
                <a:solidFill>
                  <a:srgbClr val="333333"/>
                </a:solidFill>
              </a:rPr>
              <a:t>all-MiniLM-L6-v2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595360" y="2971800"/>
            <a:ext cx="2011680" cy="347472"/>
          </a:xfrm>
          <a:prstGeom prst="roundRect">
            <a:avLst/>
          </a:prstGeom>
          <a:solidFill>
            <a:srgbClr val="FCE4EC"/>
          </a:solidFill>
          <a:ln w="19050">
            <a:solidFill>
              <a:srgbClr val="E91E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/>
          <a:lstStyle/>
          <a:p>
            <a:pPr algn="ctr"/>
            <a:r>
              <a:rPr sz="800" b="0">
                <a:solidFill>
                  <a:srgbClr val="333333"/>
                </a:solidFill>
              </a:rPr>
              <a:t>FAISS Vector Store</a:t>
            </a:r>
          </a:p>
          <a:p>
            <a:pPr algn="ctr"/>
            <a:r>
              <a:rPr sz="700">
                <a:solidFill>
                  <a:srgbClr val="333333"/>
                </a:solidFill>
              </a:rPr>
              <a:t>28 Standards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315200" y="3474720"/>
            <a:ext cx="2743200" cy="365760"/>
          </a:xfrm>
          <a:prstGeom prst="roundRect">
            <a:avLst/>
          </a:prstGeom>
          <a:solidFill>
            <a:srgbClr val="FFF3E0"/>
          </a:solidFill>
          <a:ln w="19050"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/>
          <a:lstStyle/>
          <a:p>
            <a:pPr algn="ctr"/>
            <a:r>
              <a:rPr sz="900" b="0">
                <a:solidFill>
                  <a:srgbClr val="333333"/>
                </a:solidFill>
              </a:rPr>
              <a:t>Gemini 3.6 Flash (LLM)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217920" y="3977639"/>
            <a:ext cx="1645920" cy="320040"/>
          </a:xfrm>
          <a:prstGeom prst="roundRect">
            <a:avLst/>
          </a:prstGeom>
          <a:solidFill>
            <a:srgbClr val="E8EAF6"/>
          </a:solidFill>
          <a:ln w="19050">
            <a:solidFill>
              <a:srgbClr val="3F51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/>
          <a:lstStyle/>
          <a:p>
            <a:pPr algn="ctr"/>
            <a:r>
              <a:rPr sz="900" b="0">
                <a:solidFill>
                  <a:srgbClr val="333333"/>
                </a:solidFill>
              </a:rPr>
              <a:t>BIS Standards (28)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955279" y="3977639"/>
            <a:ext cx="1645920" cy="320040"/>
          </a:xfrm>
          <a:prstGeom prst="roundRect">
            <a:avLst/>
          </a:prstGeom>
          <a:solidFill>
            <a:srgbClr val="E0F2F1"/>
          </a:solidFill>
          <a:ln w="1905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/>
          <a:lstStyle/>
          <a:p>
            <a:pPr algn="ctr"/>
            <a:r>
              <a:rPr sz="900" b="0">
                <a:solidFill>
                  <a:srgbClr val="333333"/>
                </a:solidFill>
              </a:rPr>
              <a:t>25+ BIS Offices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9692640" y="3977639"/>
            <a:ext cx="1645920" cy="320040"/>
          </a:xfrm>
          <a:prstGeom prst="roundRect">
            <a:avLst/>
          </a:prstGeom>
          <a:solidFill>
            <a:srgbClr val="FFF8E1"/>
          </a:solidFill>
          <a:ln w="19050"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/>
          <a:lstStyle/>
          <a:p>
            <a:pPr algn="ctr"/>
            <a:r>
              <a:rPr sz="900" b="0">
                <a:solidFill>
                  <a:srgbClr val="333333"/>
                </a:solidFill>
              </a:rPr>
              <a:t>Certifications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858000" y="4480560"/>
            <a:ext cx="3291840" cy="365760"/>
          </a:xfrm>
          <a:prstGeom prst="roundRect">
            <a:avLst/>
          </a:prstGeom>
          <a:solidFill>
            <a:srgbClr val="E8F5E9"/>
          </a:solidFill>
          <a:ln w="1905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/>
          <a:lstStyle/>
          <a:p>
            <a:pPr algn="ctr"/>
            <a:r>
              <a:rPr sz="900" b="1">
                <a:solidFill>
                  <a:srgbClr val="FFFFFF"/>
                </a:solidFill>
              </a:rPr>
              <a:t>6-Section Structured Response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400800" y="4983480"/>
            <a:ext cx="4389120" cy="320040"/>
          </a:xfrm>
          <a:prstGeom prst="roundRect">
            <a:avLst/>
          </a:prstGeom>
          <a:solidFill>
            <a:srgbClr val="EDE7F6"/>
          </a:solidFill>
          <a:ln w="19050">
            <a:solidFill>
              <a:srgbClr val="9C27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/>
          <a:lstStyle/>
          <a:p>
            <a:pPr algn="ctr"/>
            <a:r>
              <a:rPr sz="900" b="0">
                <a:solidFill>
                  <a:srgbClr val="333333"/>
                </a:solidFill>
              </a:rPr>
              <a:t>Chat | Standards | Offices | Certs</a:t>
            </a:r>
          </a:p>
        </p:txBody>
      </p:sp>
      <p:sp>
        <p:nvSpPr>
          <p:cNvPr id="50" name="Down Arrow 49"/>
          <p:cNvSpPr/>
          <p:nvPr/>
        </p:nvSpPr>
        <p:spPr>
          <a:xfrm>
            <a:off x="8549640" y="1828800"/>
            <a:ext cx="137160" cy="109728"/>
          </a:xfrm>
          <a:prstGeom prst="downArrow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Down Arrow 50"/>
          <p:cNvSpPr/>
          <p:nvPr/>
        </p:nvSpPr>
        <p:spPr>
          <a:xfrm>
            <a:off x="8549640" y="2331720"/>
            <a:ext cx="137160" cy="109728"/>
          </a:xfrm>
          <a:prstGeom prst="downArrow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Down Arrow 51"/>
          <p:cNvSpPr/>
          <p:nvPr/>
        </p:nvSpPr>
        <p:spPr>
          <a:xfrm>
            <a:off x="8549640" y="2880360"/>
            <a:ext cx="137160" cy="109728"/>
          </a:xfrm>
          <a:prstGeom prst="downArrow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Down Arrow 52"/>
          <p:cNvSpPr/>
          <p:nvPr/>
        </p:nvSpPr>
        <p:spPr>
          <a:xfrm>
            <a:off x="8549640" y="3429000"/>
            <a:ext cx="137160" cy="109728"/>
          </a:xfrm>
          <a:prstGeom prst="downArrow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Down Arrow 53"/>
          <p:cNvSpPr/>
          <p:nvPr/>
        </p:nvSpPr>
        <p:spPr>
          <a:xfrm>
            <a:off x="8549640" y="3931920"/>
            <a:ext cx="137160" cy="109728"/>
          </a:xfrm>
          <a:prstGeom prst="downArrow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Down Arrow 54"/>
          <p:cNvSpPr/>
          <p:nvPr/>
        </p:nvSpPr>
        <p:spPr>
          <a:xfrm>
            <a:off x="8549640" y="4434840"/>
            <a:ext cx="137160" cy="109728"/>
          </a:xfrm>
          <a:prstGeom prst="downArrow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65760" y="548640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A3A6E"/>
                </a:solidFill>
              </a:rPr>
              <a:t>How it addresses the problem:</a:t>
            </a:r>
          </a:p>
        </p:txBody>
      </p:sp>
      <p:sp>
        <p:nvSpPr>
          <p:cNvPr id="57" name="Oval 56"/>
          <p:cNvSpPr/>
          <p:nvPr/>
        </p:nvSpPr>
        <p:spPr>
          <a:xfrm>
            <a:off x="914400" y="5760720"/>
            <a:ext cx="1188720" cy="1188720"/>
          </a:xfrm>
          <a:prstGeom prst="ellipse">
            <a:avLst/>
          </a:prstGeom>
          <a:solidFill>
            <a:srgbClr val="E3F2FD"/>
          </a:solidFill>
          <a:ln w="12700"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00" b="1">
                <a:solidFill>
                  <a:srgbClr val="333333"/>
                </a:solidFill>
              </a:rPr>
              <a:t>SIMPLIFY
COMPLEX
STANDARDS</a:t>
            </a:r>
          </a:p>
        </p:txBody>
      </p:sp>
      <p:sp>
        <p:nvSpPr>
          <p:cNvPr id="58" name="Oval 57"/>
          <p:cNvSpPr/>
          <p:nvPr/>
        </p:nvSpPr>
        <p:spPr>
          <a:xfrm>
            <a:off x="457200" y="5989320"/>
            <a:ext cx="1188720" cy="1188720"/>
          </a:xfrm>
          <a:prstGeom prst="ellipse">
            <a:avLst/>
          </a:prstGeom>
          <a:solidFill>
            <a:srgbClr val="E8F5E9"/>
          </a:solidFill>
          <a:ln w="1270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00" b="1">
                <a:solidFill>
                  <a:srgbClr val="333333"/>
                </a:solidFill>
              </a:rPr>
              <a:t>UNIFIED
COMPLIANCE
PLATFORM</a:t>
            </a:r>
          </a:p>
        </p:txBody>
      </p:sp>
      <p:sp>
        <p:nvSpPr>
          <p:cNvPr id="59" name="Oval 58"/>
          <p:cNvSpPr/>
          <p:nvPr/>
        </p:nvSpPr>
        <p:spPr>
          <a:xfrm>
            <a:off x="1371600" y="5989320"/>
            <a:ext cx="1188720" cy="1188720"/>
          </a:xfrm>
          <a:prstGeom prst="ellipse">
            <a:avLst/>
          </a:prstGeom>
          <a:solidFill>
            <a:srgbClr val="FFF3E0"/>
          </a:solidFill>
          <a:ln w="12700"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00" b="1">
                <a:solidFill>
                  <a:srgbClr val="333333"/>
                </a:solidFill>
              </a:rPr>
              <a:t>MULTILINGUAL
AI (22 Lang)</a:t>
            </a:r>
          </a:p>
        </p:txBody>
      </p:sp>
      <p:sp>
        <p:nvSpPr>
          <p:cNvPr id="60" name="Oval 59"/>
          <p:cNvSpPr/>
          <p:nvPr/>
        </p:nvSpPr>
        <p:spPr>
          <a:xfrm>
            <a:off x="1143000" y="6126480"/>
            <a:ext cx="777240" cy="777240"/>
          </a:xfrm>
          <a:prstGeom prst="ellipse">
            <a:avLst/>
          </a:prstGeom>
          <a:solidFill>
            <a:srgbClr val="1A3A6E"/>
          </a:solidFill>
          <a:ln w="19050">
            <a:solidFill>
              <a:srgbClr val="1A3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>
                <a:solidFill>
                  <a:srgbClr val="FFFFFF"/>
                </a:solidFill>
              </a:rPr>
              <a:t>MANAK
MITRA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200400" y="548640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A3A6E"/>
                </a:solidFill>
              </a:rPr>
              <a:t>Innovation and Uniqueness: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3200400" y="5806440"/>
            <a:ext cx="8503920" cy="77724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1A3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tIns="50800"/>
          <a:lstStyle/>
          <a:p>
            <a:pPr algn="ctr">
              <a:spcAft>
                <a:spcPts val="100"/>
              </a:spcAft>
            </a:pPr>
            <a:r>
              <a:rPr sz="900">
                <a:solidFill>
                  <a:srgbClr val="FF6B35"/>
                </a:solidFill>
              </a:rPr>
              <a:t>&gt; </a:t>
            </a:r>
            <a:r>
              <a:rPr sz="900" b="1">
                <a:solidFill>
                  <a:srgbClr val="1A3A6E"/>
                </a:solidFill>
              </a:rPr>
              <a:t>Source-Grounded RAG</a:t>
            </a:r>
            <a:r>
              <a:rPr sz="900">
                <a:solidFill>
                  <a:srgbClr val="333333"/>
                </a:solidFill>
              </a:rPr>
              <a:t> - ONNX + FAISS, hallucination-free, cited responses</a:t>
            </a:r>
          </a:p>
          <a:p>
            <a:pPr>
              <a:spcAft>
                <a:spcPts val="100"/>
              </a:spcAft>
            </a:pPr>
            <a:r>
              <a:rPr sz="900">
                <a:solidFill>
                  <a:srgbClr val="FF6B35"/>
                </a:solidFill>
              </a:rPr>
              <a:t>&gt; </a:t>
            </a:r>
            <a:r>
              <a:rPr sz="900" b="1">
                <a:solidFill>
                  <a:srgbClr val="1A3A6E"/>
                </a:solidFill>
              </a:rPr>
              <a:t>Live BIS Pipeline</a:t>
            </a:r>
            <a:r>
              <a:rPr sz="900">
                <a:solidFill>
                  <a:srgbClr val="333333"/>
                </a:solidFill>
              </a:rPr>
              <a:t> - Auto-fetches new standards, always current</a:t>
            </a:r>
          </a:p>
          <a:p>
            <a:pPr>
              <a:spcAft>
                <a:spcPts val="100"/>
              </a:spcAft>
            </a:pPr>
            <a:r>
              <a:rPr sz="900">
                <a:solidFill>
                  <a:srgbClr val="FF6B35"/>
                </a:solidFill>
              </a:rPr>
              <a:t>&gt; </a:t>
            </a:r>
            <a:r>
              <a:rPr sz="900" b="1">
                <a:solidFill>
                  <a:srgbClr val="1A3A6E"/>
                </a:solidFill>
              </a:rPr>
              <a:t>22 Indian Languages</a:t>
            </a:r>
            <a:r>
              <a:rPr sz="900">
                <a:solidFill>
                  <a:srgbClr val="333333"/>
                </a:solidFill>
              </a:rPr>
              <a:t> - Auto-detect, translate, RAG, translate-back</a:t>
            </a:r>
          </a:p>
          <a:p>
            <a:pPr>
              <a:spcAft>
                <a:spcPts val="100"/>
              </a:spcAft>
            </a:pPr>
            <a:r>
              <a:rPr sz="900">
                <a:solidFill>
                  <a:srgbClr val="FF6B35"/>
                </a:solidFill>
              </a:rPr>
              <a:t>&gt; </a:t>
            </a:r>
            <a:r>
              <a:rPr sz="900" b="1">
                <a:solidFill>
                  <a:srgbClr val="1A3A6E"/>
                </a:solidFill>
              </a:rPr>
              <a:t>6-Section Responses</a:t>
            </a:r>
            <a:r>
              <a:rPr sz="900">
                <a:solidFill>
                  <a:srgbClr val="333333"/>
                </a:solidFill>
              </a:rPr>
              <a:t> - Standards, testing, offices, legal, QC, documents</a:t>
            </a:r>
          </a:p>
          <a:p>
            <a:pPr>
              <a:spcAft>
                <a:spcPts val="100"/>
              </a:spcAft>
            </a:pPr>
            <a:r>
              <a:rPr sz="900">
                <a:solidFill>
                  <a:srgbClr val="FF6B35"/>
                </a:solidFill>
              </a:rPr>
              <a:t>&gt; </a:t>
            </a:r>
            <a:r>
              <a:rPr sz="900" b="1">
                <a:solidFill>
                  <a:srgbClr val="1A3A6E"/>
                </a:solidFill>
              </a:rPr>
              <a:t>Unified Ecosystem</a:t>
            </a:r>
            <a:r>
              <a:rPr sz="900">
                <a:solidFill>
                  <a:srgbClr val="333333"/>
                </a:solidFill>
              </a:rPr>
              <a:t> - Standards + certs + labs + AI in one platform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FFFFFF"/>
          </a:solidFill>
          <a:ln w="25400">
            <a:solidFill>
              <a:srgbClr val="1A3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09728"/>
            <a:ext cx="1463040" cy="502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A3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1A3A6E"/>
                </a:solidFill>
              </a:rPr>
              <a:t>Resonant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0" y="109728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1A3A6E"/>
                </a:solidFill>
              </a:rPr>
              <a:t>MANAKMITRA</a:t>
            </a:r>
          </a:p>
        </p:txBody>
      </p:sp>
      <p:sp>
        <p:nvSpPr>
          <p:cNvPr id="5" name="Oval 4"/>
          <p:cNvSpPr/>
          <p:nvPr/>
        </p:nvSpPr>
        <p:spPr>
          <a:xfrm>
            <a:off x="10972800" y="91440"/>
            <a:ext cx="594360" cy="594360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SIH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109728"/>
            <a:ext cx="1005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1A3A6E"/>
                </a:solidFill>
              </a:rPr>
              <a:t>SMART INDIA
HACKATHON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8368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999999"/>
                </a:solidFill>
              </a:rPr>
              <a:t>@SIH Idea submission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0" y="658368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999999"/>
                </a:solidFill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91440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A3A6E"/>
                </a:solidFill>
              </a:rPr>
              <a:t>TECHNICAL APPROACH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41732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A3A6E"/>
                </a:solidFill>
              </a:rPr>
              <a:t>Tech Stack: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182880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1">
                <a:solidFill>
                  <a:srgbClr val="FF6B35"/>
                </a:solidFill>
              </a:rPr>
              <a:t>&gt; </a:t>
            </a:r>
            <a:r>
              <a:rPr sz="1300" b="1">
                <a:solidFill>
                  <a:srgbClr val="1A3A6E"/>
                </a:solidFill>
              </a:rPr>
              <a:t>Frontend:</a:t>
            </a:r>
            <a:r>
              <a:rPr sz="1300">
                <a:solidFill>
                  <a:srgbClr val="333333"/>
                </a:solidFill>
              </a:rPr>
              <a:t> React.js, Vite, Tailwind CSS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FF6B35"/>
                </a:solidFill>
              </a:rPr>
              <a:t>&gt; </a:t>
            </a:r>
            <a:r>
              <a:rPr sz="1300" b="1">
                <a:solidFill>
                  <a:srgbClr val="1A3A6E"/>
                </a:solidFill>
              </a:rPr>
              <a:t>Backend:</a:t>
            </a:r>
            <a:r>
              <a:rPr sz="1300">
                <a:solidFill>
                  <a:srgbClr val="333333"/>
                </a:solidFill>
              </a:rPr>
              <a:t> Python, FastAPI, Uvicorn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FF6B35"/>
                </a:solidFill>
              </a:rPr>
              <a:t>&gt; </a:t>
            </a:r>
            <a:r>
              <a:rPr sz="1300" b="1">
                <a:solidFill>
                  <a:srgbClr val="1A3A6E"/>
                </a:solidFill>
              </a:rPr>
              <a:t>Database &amp; Storage:</a:t>
            </a:r>
            <a:r>
              <a:rPr sz="1300">
                <a:solidFill>
                  <a:srgbClr val="333333"/>
                </a:solidFill>
              </a:rPr>
              <a:t> FAISS Vector Store, JSON user store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FF6B35"/>
                </a:solidFill>
              </a:rPr>
              <a:t>&gt; </a:t>
            </a:r>
            <a:r>
              <a:rPr sz="1300" b="1">
                <a:solidFill>
                  <a:srgbClr val="1A3A6E"/>
                </a:solidFill>
              </a:rPr>
              <a:t>AI &amp; ML:</a:t>
            </a:r>
            <a:r>
              <a:rPr sz="1300">
                <a:solidFill>
                  <a:srgbClr val="333333"/>
                </a:solidFill>
              </a:rPr>
              <a:t> Google Gemini API, ONNX Runtime, Sentence Transformers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FF6B35"/>
                </a:solidFill>
              </a:rPr>
              <a:t>&gt; </a:t>
            </a:r>
            <a:r>
              <a:rPr sz="1300" b="1">
                <a:solidFill>
                  <a:srgbClr val="1A3A6E"/>
                </a:solidFill>
              </a:rPr>
              <a:t>Embeddings:</a:t>
            </a:r>
            <a:r>
              <a:rPr sz="1300">
                <a:solidFill>
                  <a:srgbClr val="333333"/>
                </a:solidFill>
              </a:rPr>
              <a:t> all-MiniLM-L6-v2 (384-dim), FAISS indexing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FF6B35"/>
                </a:solidFill>
              </a:rPr>
              <a:t>&gt; </a:t>
            </a:r>
            <a:r>
              <a:rPr sz="1300" b="1">
                <a:solidFill>
                  <a:srgbClr val="1A3A6E"/>
                </a:solidFill>
              </a:rPr>
              <a:t>Document Processing:</a:t>
            </a:r>
            <a:r>
              <a:rPr sz="1300">
                <a:solidFill>
                  <a:srgbClr val="333333"/>
                </a:solidFill>
              </a:rPr>
              <a:t> PDFPlumber, Text chunking, Vector indexing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FF6B35"/>
                </a:solidFill>
              </a:rPr>
              <a:t>&gt; </a:t>
            </a:r>
            <a:r>
              <a:rPr sz="1300" b="1">
                <a:solidFill>
                  <a:srgbClr val="1A3A6E"/>
                </a:solidFill>
              </a:rPr>
              <a:t>Authentication:</a:t>
            </a:r>
            <a:r>
              <a:rPr sz="1300">
                <a:solidFill>
                  <a:srgbClr val="333333"/>
                </a:solidFill>
              </a:rPr>
              <a:t> JWT tokens, bcrypt password hashing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FF6B35"/>
                </a:solidFill>
              </a:rPr>
              <a:t>&gt; </a:t>
            </a:r>
            <a:r>
              <a:rPr sz="1300" b="1">
                <a:solidFill>
                  <a:srgbClr val="1A3A6E"/>
                </a:solidFill>
              </a:rPr>
              <a:t>Multilingual:</a:t>
            </a:r>
            <a:r>
              <a:rPr sz="1300">
                <a:solidFill>
                  <a:srgbClr val="333333"/>
                </a:solidFill>
              </a:rPr>
              <a:t> deep-translator, langdetect (22 Indian languages)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FF6B35"/>
                </a:solidFill>
              </a:rPr>
              <a:t>&gt; </a:t>
            </a:r>
            <a:r>
              <a:rPr sz="1300" b="1">
                <a:solidFill>
                  <a:srgbClr val="1A3A6E"/>
                </a:solidFill>
              </a:rPr>
              <a:t>Deployment:</a:t>
            </a:r>
            <a:r>
              <a:rPr sz="1300">
                <a:solidFill>
                  <a:srgbClr val="333333"/>
                </a:solidFill>
              </a:rPr>
              <a:t> Git/GitHub, Vercel (Frontend), Render (Backend)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12064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A3A6E"/>
                </a:solidFill>
              </a:rPr>
              <a:t>Live prototype: </a:t>
            </a:r>
            <a:r>
              <a:rPr sz="1400" b="1">
                <a:solidFill>
                  <a:srgbClr val="2196F3"/>
                </a:solidFill>
              </a:rPr>
              <a:t>manakmitra-frontend.vercel.app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760720" y="1371600"/>
            <a:ext cx="27432" cy="50292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0" y="14173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A3A6E"/>
                </a:solidFill>
              </a:rPr>
              <a:t>Architecture Flow: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1920240"/>
            <a:ext cx="2011680" cy="914400"/>
          </a:xfrm>
          <a:prstGeom prst="roundRect">
            <a:avLst/>
          </a:prstGeom>
          <a:solidFill>
            <a:srgbClr val="E8F5E9"/>
          </a:solidFill>
          <a:ln w="1905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/>
          <a:lstStyle/>
          <a:p>
            <a:pPr algn="ctr"/>
            <a:r>
              <a:rPr sz="1800"/>
              <a:t/>
            </a:r>
          </a:p>
          <a:p>
            <a:pPr algn="ctr"/>
            <a:r>
              <a:rPr sz="1000" b="1">
                <a:solidFill>
                  <a:srgbClr val="4CAF50"/>
                </a:solidFill>
              </a:rPr>
              <a:t>User</a:t>
            </a:r>
          </a:p>
          <a:p>
            <a:pPr algn="ctr">
              <a:spcBef>
                <a:spcPts val="100"/>
              </a:spcBef>
            </a:pPr>
            <a:r>
              <a:rPr sz="800">
                <a:solidFill>
                  <a:srgbClr val="333333"/>
                </a:solidFill>
              </a:rPr>
              <a:t>Enters product query</a:t>
            </a:r>
          </a:p>
          <a:p>
            <a:pPr algn="ctr">
              <a:spcBef>
                <a:spcPts val="100"/>
              </a:spcBef>
            </a:pPr>
            <a:r>
              <a:rPr sz="800">
                <a:solidFill>
                  <a:srgbClr val="333333"/>
                </a:solidFill>
              </a:rPr>
              <a:t>Selects language</a:t>
            </a:r>
          </a:p>
          <a:p>
            <a:pPr algn="ctr">
              <a:spcBef>
                <a:spcPts val="100"/>
              </a:spcBef>
            </a:pPr>
            <a:r>
              <a:rPr sz="800">
                <a:solidFill>
                  <a:srgbClr val="333333"/>
                </a:solidFill>
              </a:rPr>
              <a:t>Voice input (opt)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503920" y="1920240"/>
            <a:ext cx="2011680" cy="914400"/>
          </a:xfrm>
          <a:prstGeom prst="roundRect">
            <a:avLst/>
          </a:prstGeom>
          <a:solidFill>
            <a:srgbClr val="E3F2FD"/>
          </a:solidFill>
          <a:ln w="19050"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/>
          <a:lstStyle/>
          <a:p>
            <a:pPr algn="ctr"/>
            <a:r>
              <a:rPr sz="1800"/>
              <a:t/>
            </a:r>
          </a:p>
          <a:p>
            <a:pPr algn="ctr"/>
            <a:r>
              <a:rPr sz="1000" b="1">
                <a:solidFill>
                  <a:srgbClr val="2196F3"/>
                </a:solidFill>
              </a:rPr>
              <a:t>ManakMitra App</a:t>
            </a:r>
          </a:p>
          <a:p>
            <a:pPr algn="ctr">
              <a:spcBef>
                <a:spcPts val="100"/>
              </a:spcBef>
            </a:pPr>
            <a:r>
              <a:rPr sz="800">
                <a:solidFill>
                  <a:srgbClr val="333333"/>
                </a:solidFill>
              </a:rPr>
              <a:t>React + Vite</a:t>
            </a:r>
          </a:p>
          <a:p>
            <a:pPr algn="ctr">
              <a:spcBef>
                <a:spcPts val="100"/>
              </a:spcBef>
            </a:pPr>
            <a:r>
              <a:rPr sz="800">
                <a:solidFill>
                  <a:srgbClr val="333333"/>
                </a:solidFill>
              </a:rPr>
              <a:t>Multilingual UI</a:t>
            </a:r>
          </a:p>
          <a:p>
            <a:pPr algn="ctr">
              <a:spcBef>
                <a:spcPts val="100"/>
              </a:spcBef>
            </a:pPr>
            <a:r>
              <a:rPr sz="800">
                <a:solidFill>
                  <a:srgbClr val="333333"/>
                </a:solidFill>
              </a:rPr>
              <a:t>Chat + Dashboard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789920" y="1920240"/>
            <a:ext cx="1371600" cy="914400"/>
          </a:xfrm>
          <a:prstGeom prst="roundRect">
            <a:avLst/>
          </a:prstGeom>
          <a:solidFill>
            <a:srgbClr val="1A3A6E"/>
          </a:solidFill>
          <a:ln w="19050">
            <a:solidFill>
              <a:srgbClr val="1A3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/>
          <a:lstStyle/>
          <a:p>
            <a:pPr algn="ctr"/>
            <a:r>
              <a:rPr sz="1800"/>
              <a:t/>
            </a:r>
          </a:p>
          <a:p>
            <a:pPr algn="ctr"/>
            <a:r>
              <a:rPr sz="1000" b="1">
                <a:solidFill>
                  <a:srgbClr val="1A3A6E"/>
                </a:solidFill>
              </a:rPr>
              <a:t>RAG Engine</a:t>
            </a:r>
          </a:p>
          <a:p>
            <a:pPr algn="ctr">
              <a:spcBef>
                <a:spcPts val="100"/>
              </a:spcBef>
            </a:pPr>
            <a:r>
              <a:rPr sz="800">
                <a:solidFill>
                  <a:srgbClr val="333333"/>
                </a:solidFill>
              </a:rPr>
              <a:t>ONNX + FAISS</a:t>
            </a:r>
          </a:p>
          <a:p>
            <a:pPr algn="ctr">
              <a:spcBef>
                <a:spcPts val="100"/>
              </a:spcBef>
            </a:pPr>
            <a:r>
              <a:rPr sz="800">
                <a:solidFill>
                  <a:srgbClr val="333333"/>
                </a:solidFill>
              </a:rPr>
              <a:t>Vector search</a:t>
            </a:r>
          </a:p>
          <a:p>
            <a:pPr algn="ctr">
              <a:spcBef>
                <a:spcPts val="100"/>
              </a:spcBef>
            </a:pPr>
            <a:r>
              <a:rPr sz="800">
                <a:solidFill>
                  <a:srgbClr val="333333"/>
                </a:solidFill>
              </a:rPr>
              <a:t>Context retrieval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8275320" y="2286000"/>
            <a:ext cx="228600" cy="137160"/>
          </a:xfrm>
          <a:prstGeom prst="rightArrow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ight Arrow 19"/>
          <p:cNvSpPr/>
          <p:nvPr/>
        </p:nvSpPr>
        <p:spPr>
          <a:xfrm>
            <a:off x="10561320" y="2286000"/>
            <a:ext cx="228600" cy="137160"/>
          </a:xfrm>
          <a:prstGeom prst="rightArrow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217920" y="3017520"/>
            <a:ext cx="2011680" cy="822960"/>
          </a:xfrm>
          <a:prstGeom prst="roundRect">
            <a:avLst/>
          </a:prstGeom>
          <a:solidFill>
            <a:srgbClr val="FFF3E0"/>
          </a:solidFill>
          <a:ln w="19050"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/>
          <a:lstStyle/>
          <a:p>
            <a:pPr algn="ctr"/>
            <a:r>
              <a:rPr sz="1800"/>
              <a:t/>
            </a:r>
          </a:p>
          <a:p>
            <a:pPr algn="ctr"/>
            <a:r>
              <a:rPr sz="1000" b="1">
                <a:solidFill>
                  <a:srgbClr val="FF9800"/>
                </a:solidFill>
              </a:rPr>
              <a:t>BIS Retrieval</a:t>
            </a:r>
          </a:p>
          <a:p>
            <a:pPr algn="ctr">
              <a:spcBef>
                <a:spcPts val="100"/>
              </a:spcBef>
            </a:pPr>
            <a:r>
              <a:rPr sz="800">
                <a:solidFill>
                  <a:srgbClr val="333333"/>
                </a:solidFill>
              </a:rPr>
              <a:t>Fetch standards from</a:t>
            </a:r>
          </a:p>
          <a:p>
            <a:pPr algn="ctr">
              <a:spcBef>
                <a:spcPts val="100"/>
              </a:spcBef>
            </a:pPr>
            <a:r>
              <a:rPr sz="800">
                <a:solidFill>
                  <a:srgbClr val="333333"/>
                </a:solidFill>
              </a:rPr>
              <a:t>bis.gov.in</a:t>
            </a:r>
          </a:p>
          <a:p>
            <a:pPr algn="ctr">
              <a:spcBef>
                <a:spcPts val="100"/>
              </a:spcBef>
            </a:pPr>
            <a:r>
              <a:rPr sz="800">
                <a:solidFill>
                  <a:srgbClr val="333333"/>
                </a:solidFill>
              </a:rPr>
              <a:t>Auto-fetch pipeline</a:t>
            </a:r>
          </a:p>
        </p:txBody>
      </p:sp>
      <p:sp>
        <p:nvSpPr>
          <p:cNvPr id="22" name="Down Arrow 21"/>
          <p:cNvSpPr/>
          <p:nvPr/>
        </p:nvSpPr>
        <p:spPr>
          <a:xfrm>
            <a:off x="7132320" y="2880360"/>
            <a:ext cx="137160" cy="137160"/>
          </a:xfrm>
          <a:prstGeom prst="downArrow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503920" y="3017520"/>
            <a:ext cx="2011680" cy="822960"/>
          </a:xfrm>
          <a:prstGeom prst="roundRect">
            <a:avLst/>
          </a:prstGeom>
          <a:solidFill>
            <a:srgbClr val="F3E5F5"/>
          </a:solidFill>
          <a:ln w="19050">
            <a:solidFill>
              <a:srgbClr val="9C27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/>
          <a:lstStyle/>
          <a:p>
            <a:pPr algn="ctr"/>
            <a:r>
              <a:rPr sz="1800"/>
              <a:t/>
            </a:r>
          </a:p>
          <a:p>
            <a:pPr algn="ctr"/>
            <a:r>
              <a:rPr sz="1000" b="1">
                <a:solidFill>
                  <a:srgbClr val="9C27B0"/>
                </a:solidFill>
              </a:rPr>
              <a:t>Gemini LLM</a:t>
            </a:r>
          </a:p>
          <a:p>
            <a:pPr algn="ctr">
              <a:spcBef>
                <a:spcPts val="100"/>
              </a:spcBef>
            </a:pPr>
            <a:r>
              <a:rPr sz="800">
                <a:solidFill>
                  <a:srgbClr val="333333"/>
                </a:solidFill>
              </a:rPr>
              <a:t>Generate 6-section</a:t>
            </a:r>
          </a:p>
          <a:p>
            <a:pPr algn="ctr">
              <a:spcBef>
                <a:spcPts val="100"/>
              </a:spcBef>
            </a:pPr>
            <a:r>
              <a:rPr sz="800">
                <a:solidFill>
                  <a:srgbClr val="333333"/>
                </a:solidFill>
              </a:rPr>
              <a:t>structured response</a:t>
            </a:r>
          </a:p>
          <a:p>
            <a:pPr algn="ctr">
              <a:spcBef>
                <a:spcPts val="100"/>
              </a:spcBef>
            </a:pPr>
            <a:r>
              <a:rPr sz="800">
                <a:solidFill>
                  <a:srgbClr val="333333"/>
                </a:solidFill>
              </a:rPr>
              <a:t>Source-grounded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8275320" y="3337560"/>
            <a:ext cx="228600" cy="137160"/>
          </a:xfrm>
          <a:prstGeom prst="rightArrow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0789920" y="3017520"/>
            <a:ext cx="1371600" cy="822960"/>
          </a:xfrm>
          <a:prstGeom prst="roundRect">
            <a:avLst/>
          </a:prstGeom>
          <a:solidFill>
            <a:srgbClr val="E8F5E9"/>
          </a:solidFill>
          <a:ln w="1905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/>
          <a:lstStyle/>
          <a:p>
            <a:pPr algn="ctr"/>
            <a:r>
              <a:rPr sz="1800"/>
              <a:t/>
            </a:r>
          </a:p>
          <a:p>
            <a:pPr algn="ctr"/>
            <a:r>
              <a:rPr sz="1000" b="1">
                <a:solidFill>
                  <a:srgbClr val="4CAF50"/>
                </a:solidFill>
              </a:rPr>
              <a:t>Response</a:t>
            </a:r>
          </a:p>
          <a:p>
            <a:pPr algn="ctr">
              <a:spcBef>
                <a:spcPts val="100"/>
              </a:spcBef>
            </a:pPr>
            <a:r>
              <a:rPr sz="800">
                <a:solidFill>
                  <a:srgbClr val="333333"/>
                </a:solidFill>
              </a:rPr>
              <a:t>Standards + Testing</a:t>
            </a:r>
          </a:p>
          <a:p>
            <a:pPr algn="ctr">
              <a:spcBef>
                <a:spcPts val="100"/>
              </a:spcBef>
            </a:pPr>
            <a:r>
              <a:rPr sz="800">
                <a:solidFill>
                  <a:srgbClr val="333333"/>
                </a:solidFill>
              </a:rPr>
              <a:t>Offices + Certs</a:t>
            </a:r>
          </a:p>
          <a:p>
            <a:pPr algn="ctr">
              <a:spcBef>
                <a:spcPts val="100"/>
              </a:spcBef>
            </a:pPr>
            <a:r>
              <a:rPr sz="800">
                <a:solidFill>
                  <a:srgbClr val="333333"/>
                </a:solidFill>
              </a:rPr>
              <a:t>Documents + QC</a:t>
            </a:r>
          </a:p>
        </p:txBody>
      </p:sp>
      <p:sp>
        <p:nvSpPr>
          <p:cNvPr id="26" name="Down Arrow 25"/>
          <p:cNvSpPr/>
          <p:nvPr/>
        </p:nvSpPr>
        <p:spPr>
          <a:xfrm>
            <a:off x="11430000" y="3886200"/>
            <a:ext cx="137160" cy="137160"/>
          </a:xfrm>
          <a:prstGeom prst="downArrow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217920" y="4114800"/>
            <a:ext cx="1371600" cy="640080"/>
          </a:xfrm>
          <a:prstGeom prst="roundRect">
            <a:avLst/>
          </a:prstGeom>
          <a:solidFill>
            <a:srgbClr val="E8EAF6"/>
          </a:solidFill>
          <a:ln w="12700">
            <a:solidFill>
              <a:srgbClr val="3F51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333333"/>
                </a:solidFill>
              </a:rPr>
              <a:t>Standards
Library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772400" y="4114800"/>
            <a:ext cx="1371600" cy="640080"/>
          </a:xfrm>
          <a:prstGeom prst="roundRect">
            <a:avLst/>
          </a:prstGeom>
          <a:solidFill>
            <a:srgbClr val="E0F2F1"/>
          </a:solidFill>
          <a:ln w="12700"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333333"/>
                </a:solidFill>
              </a:rPr>
              <a:t>BIS Office
Finder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326880" y="4114800"/>
            <a:ext cx="1371600" cy="640080"/>
          </a:xfrm>
          <a:prstGeom prst="roundRect">
            <a:avLst/>
          </a:prstGeom>
          <a:solidFill>
            <a:srgbClr val="FFF8E1"/>
          </a:solidFill>
          <a:ln w="12700"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333333"/>
                </a:solidFill>
              </a:rPr>
              <a:t>Certification
Guide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881360" y="4114800"/>
            <a:ext cx="1371600" cy="640080"/>
          </a:xfrm>
          <a:prstGeom prst="roundRect">
            <a:avLst/>
          </a:prstGeom>
          <a:solidFill>
            <a:srgbClr val="FCE4EC"/>
          </a:solidFill>
          <a:ln w="12700">
            <a:solidFill>
              <a:srgbClr val="E91E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333333"/>
                </a:solidFill>
              </a:rPr>
              <a:t>Analytics
Dashboard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17920" y="493776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A3A6E"/>
                </a:solidFill>
              </a:rPr>
              <a:t>Tech Used: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17920" y="5212080"/>
            <a:ext cx="1097280" cy="822960"/>
          </a:xfrm>
          <a:prstGeom prst="roundRect">
            <a:avLst/>
          </a:prstGeom>
          <a:solidFill>
            <a:srgbClr val="E3F2FD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tIns="25400"/>
          <a:lstStyle/>
          <a:p>
            <a:pPr algn="ctr"/>
            <a:r>
              <a:rPr sz="800" b="1">
                <a:solidFill>
                  <a:srgbClr val="1A3A6E"/>
                </a:solidFill>
              </a:rPr>
              <a:t>Frontend</a:t>
            </a:r>
          </a:p>
          <a:p>
            <a:pPr algn="ctr">
              <a:spcBef>
                <a:spcPts val="100"/>
              </a:spcBef>
            </a:pPr>
            <a:r>
              <a:rPr sz="700">
                <a:solidFill>
                  <a:srgbClr val="333333"/>
                </a:solidFill>
              </a:rPr>
              <a:t>React</a:t>
            </a:r>
          </a:p>
          <a:p>
            <a:pPr algn="ctr">
              <a:spcBef>
                <a:spcPts val="100"/>
              </a:spcBef>
            </a:pPr>
            <a:r>
              <a:rPr sz="700">
                <a:solidFill>
                  <a:srgbClr val="333333"/>
                </a:solidFill>
              </a:rPr>
              <a:t>Vite</a:t>
            </a:r>
          </a:p>
          <a:p>
            <a:pPr algn="ctr">
              <a:spcBef>
                <a:spcPts val="100"/>
              </a:spcBef>
            </a:pPr>
            <a:r>
              <a:rPr sz="700">
                <a:solidFill>
                  <a:srgbClr val="333333"/>
                </a:solidFill>
              </a:rPr>
              <a:t>Tailwind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424927" y="5212080"/>
            <a:ext cx="1097280" cy="822960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tIns="25400"/>
          <a:lstStyle/>
          <a:p>
            <a:pPr algn="ctr"/>
            <a:r>
              <a:rPr sz="800" b="1">
                <a:solidFill>
                  <a:srgbClr val="1A3A6E"/>
                </a:solidFill>
              </a:rPr>
              <a:t>Backend</a:t>
            </a:r>
          </a:p>
          <a:p>
            <a:pPr algn="ctr">
              <a:spcBef>
                <a:spcPts val="100"/>
              </a:spcBef>
            </a:pPr>
            <a:r>
              <a:rPr sz="700">
                <a:solidFill>
                  <a:srgbClr val="333333"/>
                </a:solidFill>
              </a:rPr>
              <a:t>Python</a:t>
            </a:r>
          </a:p>
          <a:p>
            <a:pPr algn="ctr">
              <a:spcBef>
                <a:spcPts val="100"/>
              </a:spcBef>
            </a:pPr>
            <a:r>
              <a:rPr sz="700">
                <a:solidFill>
                  <a:srgbClr val="333333"/>
                </a:solidFill>
              </a:rPr>
              <a:t>FastAPI</a:t>
            </a:r>
          </a:p>
          <a:p>
            <a:pPr algn="ctr">
              <a:spcBef>
                <a:spcPts val="100"/>
              </a:spcBef>
            </a:pPr>
            <a:r>
              <a:rPr sz="700">
                <a:solidFill>
                  <a:srgbClr val="333333"/>
                </a:solidFill>
              </a:rPr>
              <a:t>Uvicorn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631936" y="5212080"/>
            <a:ext cx="1097280" cy="822960"/>
          </a:xfrm>
          <a:prstGeom prst="roundRect">
            <a:avLst/>
          </a:prstGeom>
          <a:solidFill>
            <a:srgbClr val="FFF3E0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tIns="25400"/>
          <a:lstStyle/>
          <a:p>
            <a:pPr algn="ctr"/>
            <a:r>
              <a:rPr sz="800" b="1">
                <a:solidFill>
                  <a:srgbClr val="1A3A6E"/>
                </a:solidFill>
              </a:rPr>
              <a:t>AI/ML</a:t>
            </a:r>
          </a:p>
          <a:p>
            <a:pPr algn="ctr">
              <a:spcBef>
                <a:spcPts val="100"/>
              </a:spcBef>
            </a:pPr>
            <a:r>
              <a:rPr sz="700">
                <a:solidFill>
                  <a:srgbClr val="333333"/>
                </a:solidFill>
              </a:rPr>
              <a:t>Gemini</a:t>
            </a:r>
          </a:p>
          <a:p>
            <a:pPr algn="ctr">
              <a:spcBef>
                <a:spcPts val="100"/>
              </a:spcBef>
            </a:pPr>
            <a:r>
              <a:rPr sz="700">
                <a:solidFill>
                  <a:srgbClr val="333333"/>
                </a:solidFill>
              </a:rPr>
              <a:t>ONNX</a:t>
            </a:r>
          </a:p>
          <a:p>
            <a:pPr algn="ctr">
              <a:spcBef>
                <a:spcPts val="100"/>
              </a:spcBef>
            </a:pPr>
            <a:r>
              <a:rPr sz="700">
                <a:solidFill>
                  <a:srgbClr val="333333"/>
                </a:solidFill>
              </a:rPr>
              <a:t>FAISS</a:t>
            </a:r>
          </a:p>
          <a:p>
            <a:pPr algn="ctr">
              <a:spcBef>
                <a:spcPts val="100"/>
              </a:spcBef>
            </a:pPr>
            <a:r>
              <a:rPr sz="700">
                <a:solidFill>
                  <a:srgbClr val="333333"/>
                </a:solidFill>
              </a:rPr>
              <a:t>NumPy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838944" y="5212080"/>
            <a:ext cx="1097280" cy="822960"/>
          </a:xfrm>
          <a:prstGeom prst="roundRect">
            <a:avLst/>
          </a:prstGeom>
          <a:solidFill>
            <a:srgbClr val="F3E5F5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tIns="25400"/>
          <a:lstStyle/>
          <a:p>
            <a:pPr algn="ctr"/>
            <a:r>
              <a:rPr sz="800" b="1">
                <a:solidFill>
                  <a:srgbClr val="1A3A6E"/>
                </a:solidFill>
              </a:rPr>
              <a:t>Data</a:t>
            </a:r>
          </a:p>
          <a:p>
            <a:pPr algn="ctr">
              <a:spcBef>
                <a:spcPts val="100"/>
              </a:spcBef>
            </a:pPr>
            <a:r>
              <a:rPr sz="700">
                <a:solidFill>
                  <a:srgbClr val="333333"/>
                </a:solidFill>
              </a:rPr>
              <a:t>PDF</a:t>
            </a:r>
          </a:p>
          <a:p>
            <a:pPr algn="ctr">
              <a:spcBef>
                <a:spcPts val="100"/>
              </a:spcBef>
            </a:pPr>
            <a:r>
              <a:rPr sz="700">
                <a:solidFill>
                  <a:srgbClr val="333333"/>
                </a:solidFill>
              </a:rPr>
              <a:t>Chunk</a:t>
            </a:r>
          </a:p>
          <a:p>
            <a:pPr algn="ctr">
              <a:spcBef>
                <a:spcPts val="100"/>
              </a:spcBef>
            </a:pPr>
            <a:r>
              <a:rPr sz="700">
                <a:solidFill>
                  <a:srgbClr val="333333"/>
                </a:solidFill>
              </a:rPr>
              <a:t>Embed</a:t>
            </a:r>
          </a:p>
          <a:p>
            <a:pPr algn="ctr">
              <a:spcBef>
                <a:spcPts val="100"/>
              </a:spcBef>
            </a:pPr>
            <a:r>
              <a:rPr sz="700">
                <a:solidFill>
                  <a:srgbClr val="333333"/>
                </a:solidFill>
              </a:rPr>
              <a:t>Index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1045952" y="5212080"/>
            <a:ext cx="1097280" cy="822960"/>
          </a:xfrm>
          <a:prstGeom prst="roundRect">
            <a:avLst/>
          </a:prstGeom>
          <a:solidFill>
            <a:srgbClr val="E0F2F1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tIns="25400"/>
          <a:lstStyle/>
          <a:p>
            <a:pPr algn="ctr"/>
            <a:r>
              <a:rPr sz="800" b="1">
                <a:solidFill>
                  <a:srgbClr val="1A3A6E"/>
                </a:solidFill>
              </a:rPr>
              <a:t>Services</a:t>
            </a:r>
          </a:p>
          <a:p>
            <a:pPr algn="ctr">
              <a:spcBef>
                <a:spcPts val="100"/>
              </a:spcBef>
            </a:pPr>
            <a:r>
              <a:rPr sz="700">
                <a:solidFill>
                  <a:srgbClr val="333333"/>
                </a:solidFill>
              </a:rPr>
              <a:t>JWT</a:t>
            </a:r>
          </a:p>
          <a:p>
            <a:pPr algn="ctr">
              <a:spcBef>
                <a:spcPts val="100"/>
              </a:spcBef>
            </a:pPr>
            <a:r>
              <a:rPr sz="700">
                <a:solidFill>
                  <a:srgbClr val="333333"/>
                </a:solidFill>
              </a:rPr>
              <a:t>22Lang</a:t>
            </a:r>
          </a:p>
          <a:p>
            <a:pPr algn="ctr">
              <a:spcBef>
                <a:spcPts val="100"/>
              </a:spcBef>
            </a:pPr>
            <a:r>
              <a:rPr sz="700">
                <a:solidFill>
                  <a:srgbClr val="333333"/>
                </a:solidFill>
              </a:rPr>
              <a:t>Maps</a:t>
            </a:r>
          </a:p>
          <a:p>
            <a:pPr algn="ctr">
              <a:spcBef>
                <a:spcPts val="100"/>
              </a:spcBef>
            </a:pPr>
            <a:r>
              <a:rPr sz="700">
                <a:solidFill>
                  <a:srgbClr val="333333"/>
                </a:solidFill>
              </a:rPr>
              <a:t>Fetch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557784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A3A6E"/>
                </a:solidFill>
              </a:rPr>
              <a:t>User Roles: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57200" y="5852160"/>
            <a:ext cx="960120" cy="502920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>
                <a:solidFill>
                  <a:srgbClr val="1A3A6E"/>
                </a:solidFill>
              </a:rPr>
              <a:t>MSME Owner</a:t>
            </a:r>
          </a:p>
        </p:txBody>
      </p:sp>
      <p:sp>
        <p:nvSpPr>
          <p:cNvPr id="39" name="Right Arrow 38"/>
          <p:cNvSpPr/>
          <p:nvPr/>
        </p:nvSpPr>
        <p:spPr>
          <a:xfrm>
            <a:off x="1444752" y="5989320"/>
            <a:ext cx="109728" cy="91440"/>
          </a:xfrm>
          <a:prstGeom prst="rightArrow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1554480" y="5852160"/>
            <a:ext cx="960120" cy="502920"/>
          </a:xfrm>
          <a:prstGeom prst="roundRect">
            <a:avLst/>
          </a:prstGeom>
          <a:solidFill>
            <a:srgbClr val="E3F2FD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>
                <a:solidFill>
                  <a:srgbClr val="1A3A6E"/>
                </a:solidFill>
              </a:rPr>
              <a:t>Manufacturer</a:t>
            </a:r>
          </a:p>
        </p:txBody>
      </p:sp>
      <p:sp>
        <p:nvSpPr>
          <p:cNvPr id="41" name="Right Arrow 40"/>
          <p:cNvSpPr/>
          <p:nvPr/>
        </p:nvSpPr>
        <p:spPr>
          <a:xfrm>
            <a:off x="2542032" y="5989320"/>
            <a:ext cx="109728" cy="91440"/>
          </a:xfrm>
          <a:prstGeom prst="rightArrow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2651760" y="5852160"/>
            <a:ext cx="960120" cy="502920"/>
          </a:xfrm>
          <a:prstGeom prst="roundRect">
            <a:avLst/>
          </a:prstGeom>
          <a:solidFill>
            <a:srgbClr val="FFF3E0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>
                <a:solidFill>
                  <a:srgbClr val="1A3A6E"/>
                </a:solidFill>
              </a:rPr>
              <a:t>Quality Manager</a:t>
            </a:r>
          </a:p>
        </p:txBody>
      </p:sp>
      <p:sp>
        <p:nvSpPr>
          <p:cNvPr id="43" name="Right Arrow 42"/>
          <p:cNvSpPr/>
          <p:nvPr/>
        </p:nvSpPr>
        <p:spPr>
          <a:xfrm>
            <a:off x="3639312" y="5989320"/>
            <a:ext cx="109728" cy="91440"/>
          </a:xfrm>
          <a:prstGeom prst="rightArrow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3749039" y="5852160"/>
            <a:ext cx="960120" cy="502920"/>
          </a:xfrm>
          <a:prstGeom prst="roundRect">
            <a:avLst/>
          </a:prstGeom>
          <a:solidFill>
            <a:srgbClr val="F3E5F5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>
                <a:solidFill>
                  <a:srgbClr val="1A3A6E"/>
                </a:solidFill>
              </a:rPr>
              <a:t>Testing Lab</a:t>
            </a:r>
          </a:p>
        </p:txBody>
      </p:sp>
      <p:sp>
        <p:nvSpPr>
          <p:cNvPr id="45" name="Right Arrow 44"/>
          <p:cNvSpPr/>
          <p:nvPr/>
        </p:nvSpPr>
        <p:spPr>
          <a:xfrm>
            <a:off x="4736592" y="5989320"/>
            <a:ext cx="109728" cy="91440"/>
          </a:xfrm>
          <a:prstGeom prst="rightArrow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4846320" y="5852160"/>
            <a:ext cx="960120" cy="502920"/>
          </a:xfrm>
          <a:prstGeom prst="roundRect">
            <a:avLst/>
          </a:prstGeom>
          <a:solidFill>
            <a:srgbClr val="E0F2F1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>
                <a:solidFill>
                  <a:srgbClr val="1A3A6E"/>
                </a:solidFill>
              </a:rPr>
              <a:t>Cert Body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FFFFFF"/>
          </a:solidFill>
          <a:ln w="25400">
            <a:solidFill>
              <a:srgbClr val="1A3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09728"/>
            <a:ext cx="1463040" cy="502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A3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1A3A6E"/>
                </a:solidFill>
              </a:rPr>
              <a:t>Resonant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0" y="109728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1A3A6E"/>
                </a:solidFill>
              </a:rPr>
              <a:t>MANAKMITRA</a:t>
            </a:r>
          </a:p>
        </p:txBody>
      </p:sp>
      <p:sp>
        <p:nvSpPr>
          <p:cNvPr id="5" name="Oval 4"/>
          <p:cNvSpPr/>
          <p:nvPr/>
        </p:nvSpPr>
        <p:spPr>
          <a:xfrm>
            <a:off x="10972800" y="91440"/>
            <a:ext cx="594360" cy="594360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SIH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109728"/>
            <a:ext cx="1005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1A3A6E"/>
                </a:solidFill>
              </a:rPr>
              <a:t>SMART INDIA
HACKATHON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8368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999999"/>
                </a:solidFill>
              </a:rPr>
              <a:t>@SIH Idea submission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0" y="658368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999999"/>
                </a:solidFill>
              </a:rPr>
              <a:t>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00584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A3A6E"/>
                </a:solidFill>
              </a:rPr>
              <a:t>Live Demo - Key Features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371600"/>
            <a:ext cx="54864" cy="54864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57200" y="1371600"/>
            <a:ext cx="5212080" cy="54864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1426464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A3A6E"/>
                </a:solidFill>
              </a:rPr>
              <a:t>Multilingual AI Chat</a:t>
            </a:r>
          </a:p>
          <a:p>
            <a:r>
              <a:rPr sz="950">
                <a:solidFill>
                  <a:srgbClr val="333333"/>
                </a:solidFill>
              </a:rPr>
              <a:t>Ask in Hindi, Telugu, Tamil, Bengali or 18 other Indian languages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2011680"/>
            <a:ext cx="54864" cy="54864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57200" y="2011680"/>
            <a:ext cx="5212080" cy="54864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2066544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A3A6E"/>
                </a:solidFill>
              </a:rPr>
              <a:t>6-Section Response</a:t>
            </a:r>
          </a:p>
          <a:p>
            <a:r>
              <a:rPr sz="950">
                <a:solidFill>
                  <a:srgbClr val="333333"/>
                </a:solidFill>
              </a:rPr>
              <a:t>Standards, testing, offices, legal basis, QC, documents - every time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2651760"/>
            <a:ext cx="54864" cy="54864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57200" y="2651760"/>
            <a:ext cx="5212080" cy="54864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2706624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A3A6E"/>
                </a:solidFill>
              </a:rPr>
              <a:t>Live Auto-Fetch</a:t>
            </a:r>
          </a:p>
          <a:p>
            <a:r>
              <a:rPr sz="950">
                <a:solidFill>
                  <a:srgbClr val="333333"/>
                </a:solidFill>
              </a:rPr>
              <a:t>Scrapes bis.gov.in for new standards and indexes automatically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3291840"/>
            <a:ext cx="54864" cy="54864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57200" y="3291840"/>
            <a:ext cx="5212080" cy="54864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3346704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A3A6E"/>
                </a:solidFill>
              </a:rPr>
              <a:t>BIS Office Finder</a:t>
            </a:r>
          </a:p>
          <a:p>
            <a:r>
              <a:rPr sz="950">
                <a:solidFill>
                  <a:srgbClr val="333333"/>
                </a:solidFill>
              </a:rPr>
              <a:t>GPS-based nearest centre with directions and phone numbers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3931920"/>
            <a:ext cx="54864" cy="54864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457200" y="3931920"/>
            <a:ext cx="5212080" cy="54864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3986784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A3A6E"/>
                </a:solidFill>
              </a:rPr>
              <a:t>Certification Guide</a:t>
            </a:r>
          </a:p>
          <a:p>
            <a:r>
              <a:rPr sz="950">
                <a:solidFill>
                  <a:srgbClr val="333333"/>
                </a:solidFill>
              </a:rPr>
              <a:t>Step-by-step for ISI Mark, Hallmark, Eco Mark, CMVR, MSME Udyam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7920" y="100584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A3A6E"/>
                </a:solidFill>
              </a:rPr>
              <a:t>App Screenshots: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17920" y="1417320"/>
            <a:ext cx="530352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17920" y="1417320"/>
            <a:ext cx="5303520" cy="274320"/>
          </a:xfrm>
          <a:prstGeom prst="rect">
            <a:avLst/>
          </a:prstGeom>
          <a:solidFill>
            <a:srgbClr val="1A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  ManakMitra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686800" y="1874519"/>
            <a:ext cx="2743200" cy="274320"/>
          </a:xfrm>
          <a:prstGeom prst="roundRect">
            <a:avLst/>
          </a:prstGeom>
          <a:solidFill>
            <a:srgbClr val="1A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sz="800">
                <a:solidFill>
                  <a:srgbClr val="FFFFFF"/>
                </a:solidFill>
              </a:rPr>
              <a:t>What standards for cement?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0800" y="2286000"/>
            <a:ext cx="4937760" cy="256032"/>
          </a:xfrm>
          <a:prstGeom prst="roundRect">
            <a:avLst/>
          </a:prstGeom>
          <a:solidFill>
            <a:srgbClr val="E3F2FD"/>
          </a:solidFill>
          <a:ln w="12700"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/>
          <a:lstStyle/>
          <a:p>
            <a:pPr algn="ctr"/>
            <a:r>
              <a:rPr sz="800" b="1">
                <a:solidFill>
                  <a:srgbClr val="333333"/>
                </a:solidFill>
              </a:rPr>
              <a:t>1. IS Standards: IS 269, IS 455, IS 8112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0" y="2606040"/>
            <a:ext cx="4937760" cy="256032"/>
          </a:xfrm>
          <a:prstGeom prst="roundRect">
            <a:avLst/>
          </a:prstGeom>
          <a:solidFill>
            <a:srgbClr val="F3E5F5"/>
          </a:solidFill>
          <a:ln w="12700">
            <a:solidFill>
              <a:srgbClr val="9C27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/>
          <a:lstStyle/>
          <a:p>
            <a:pPr algn="ctr"/>
            <a:r>
              <a:rPr sz="800" b="1">
                <a:solidFill>
                  <a:srgbClr val="333333"/>
                </a:solidFill>
              </a:rPr>
              <a:t>2. Testing: Compressive strength per IS 4031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00800" y="2926080"/>
            <a:ext cx="4937760" cy="256032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/>
          <a:lstStyle/>
          <a:p>
            <a:pPr algn="ctr"/>
            <a:r>
              <a:rPr sz="800" b="1">
                <a:solidFill>
                  <a:srgbClr val="333333"/>
                </a:solidFill>
              </a:rPr>
              <a:t>3. Where to Test: BIS Lab Delhi 011-2323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00800" y="3246120"/>
            <a:ext cx="4937760" cy="256032"/>
          </a:xfrm>
          <a:prstGeom prst="roundRect">
            <a:avLst/>
          </a:prstGeom>
          <a:solidFill>
            <a:srgbClr val="FFF8E1"/>
          </a:solidFill>
          <a:ln w="12700"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/>
          <a:lstStyle/>
          <a:p>
            <a:pPr algn="ctr"/>
            <a:r>
              <a:rPr sz="800" b="1">
                <a:solidFill>
                  <a:srgbClr val="333333"/>
                </a:solidFill>
              </a:rPr>
              <a:t>4. Mandatory: Yes, under BIS Act 2016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17920" y="3931920"/>
            <a:ext cx="530352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217920" y="3931920"/>
            <a:ext cx="5303520" cy="274320"/>
          </a:xfrm>
          <a:prstGeom prst="rect">
            <a:avLst/>
          </a:prstGeom>
          <a:solidFill>
            <a:srgbClr val="1A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  BIS Standards Library - 28 Standards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400800" y="4343400"/>
            <a:ext cx="1554480" cy="77724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tIns="38100"/>
          <a:lstStyle/>
          <a:p>
            <a:pPr algn="ctr"/>
            <a:r>
              <a:rPr sz="700" b="1">
                <a:solidFill>
                  <a:srgbClr val="FF6B35"/>
                </a:solidFill>
              </a:rPr>
              <a:t>CEMENT</a:t>
            </a:r>
          </a:p>
          <a:p>
            <a:r>
              <a:rPr sz="1100" b="1">
                <a:solidFill>
                  <a:srgbClr val="1A3A6E"/>
                </a:solidFill>
              </a:rPr>
              <a:t>IS 269</a:t>
            </a:r>
          </a:p>
          <a:p>
            <a:r>
              <a:rPr sz="800">
                <a:solidFill>
                  <a:srgbClr val="333333"/>
                </a:solidFill>
              </a:rPr>
              <a:t>OPC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138160" y="4343400"/>
            <a:ext cx="1554480" cy="77724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tIns="38100"/>
          <a:lstStyle/>
          <a:p>
            <a:pPr algn="ctr"/>
            <a:r>
              <a:rPr sz="700" b="1">
                <a:solidFill>
                  <a:srgbClr val="FF6B35"/>
                </a:solidFill>
              </a:rPr>
              <a:t>STEEL</a:t>
            </a:r>
          </a:p>
          <a:p>
            <a:r>
              <a:rPr sz="1100" b="1">
                <a:solidFill>
                  <a:srgbClr val="1A3A6E"/>
                </a:solidFill>
              </a:rPr>
              <a:t>IS 2062</a:t>
            </a:r>
          </a:p>
          <a:p>
            <a:r>
              <a:rPr sz="800">
                <a:solidFill>
                  <a:srgbClr val="333333"/>
                </a:solidFill>
              </a:rPr>
              <a:t>Structural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875520" y="4343400"/>
            <a:ext cx="1554480" cy="77724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tIns="38100"/>
          <a:lstStyle/>
          <a:p>
            <a:pPr algn="ctr"/>
            <a:r>
              <a:rPr sz="700" b="1">
                <a:solidFill>
                  <a:srgbClr val="FF6B35"/>
                </a:solidFill>
              </a:rPr>
              <a:t>ELECTRICAL</a:t>
            </a:r>
          </a:p>
          <a:p>
            <a:r>
              <a:rPr sz="1100" b="1">
                <a:solidFill>
                  <a:srgbClr val="1A3A6E"/>
                </a:solidFill>
              </a:rPr>
              <a:t>IS 302</a:t>
            </a:r>
          </a:p>
          <a:p>
            <a:r>
              <a:rPr sz="800">
                <a:solidFill>
                  <a:srgbClr val="333333"/>
                </a:solidFill>
              </a:rPr>
              <a:t>Appliances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400800" y="5257800"/>
            <a:ext cx="1554480" cy="77724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tIns="38100"/>
          <a:lstStyle/>
          <a:p>
            <a:pPr algn="ctr"/>
            <a:r>
              <a:rPr sz="700" b="1">
                <a:solidFill>
                  <a:srgbClr val="FF6B35"/>
                </a:solidFill>
              </a:rPr>
              <a:t>FOOD</a:t>
            </a:r>
          </a:p>
          <a:p>
            <a:r>
              <a:rPr sz="1100" b="1">
                <a:solidFill>
                  <a:srgbClr val="1A3A6E"/>
                </a:solidFill>
              </a:rPr>
              <a:t>IS 14543</a:t>
            </a:r>
          </a:p>
          <a:p>
            <a:r>
              <a:rPr sz="800">
                <a:solidFill>
                  <a:srgbClr val="333333"/>
                </a:solidFill>
              </a:rPr>
              <a:t>Water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138160" y="5257800"/>
            <a:ext cx="1554480" cy="77724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tIns="38100"/>
          <a:lstStyle/>
          <a:p>
            <a:pPr algn="ctr"/>
            <a:r>
              <a:rPr sz="700" b="1">
                <a:solidFill>
                  <a:srgbClr val="FF6B35"/>
                </a:solidFill>
              </a:rPr>
              <a:t>ELECTRICAL</a:t>
            </a:r>
          </a:p>
          <a:p>
            <a:r>
              <a:rPr sz="1100" b="1">
                <a:solidFill>
                  <a:srgbClr val="1A3A6E"/>
                </a:solidFill>
              </a:rPr>
              <a:t>IS 15556</a:t>
            </a:r>
          </a:p>
          <a:p>
            <a:r>
              <a:rPr sz="800">
                <a:solidFill>
                  <a:srgbClr val="333333"/>
                </a:solidFill>
              </a:rPr>
              <a:t>LED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875520" y="5257800"/>
            <a:ext cx="1554480" cy="77724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tIns="38100"/>
          <a:lstStyle/>
          <a:p>
            <a:pPr algn="ctr"/>
            <a:r>
              <a:rPr sz="700" b="1">
                <a:solidFill>
                  <a:srgbClr val="FF6B35"/>
                </a:solidFill>
              </a:rPr>
              <a:t>LEATHER</a:t>
            </a:r>
          </a:p>
          <a:p>
            <a:r>
              <a:rPr sz="1100" b="1">
                <a:solidFill>
                  <a:srgbClr val="1A3A6E"/>
                </a:solidFill>
              </a:rPr>
              <a:t>IS 3289</a:t>
            </a:r>
          </a:p>
          <a:p>
            <a:r>
              <a:rPr sz="800">
                <a:solidFill>
                  <a:srgbClr val="333333"/>
                </a:solidFill>
              </a:rPr>
              <a:t>Finished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FFFFFF"/>
          </a:solidFill>
          <a:ln w="25400">
            <a:solidFill>
              <a:srgbClr val="1A3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09728"/>
            <a:ext cx="1463040" cy="502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A3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1A3A6E"/>
                </a:solidFill>
              </a:rPr>
              <a:t>Resonant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0" y="109728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1A3A6E"/>
                </a:solidFill>
              </a:rPr>
              <a:t>MANAKMITRA</a:t>
            </a:r>
          </a:p>
        </p:txBody>
      </p:sp>
      <p:sp>
        <p:nvSpPr>
          <p:cNvPr id="5" name="Oval 4"/>
          <p:cNvSpPr/>
          <p:nvPr/>
        </p:nvSpPr>
        <p:spPr>
          <a:xfrm>
            <a:off x="10972800" y="91440"/>
            <a:ext cx="594360" cy="594360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SIH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109728"/>
            <a:ext cx="1005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1A3A6E"/>
                </a:solidFill>
              </a:rPr>
              <a:t>SMART INDIA
HACKATHON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8368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999999"/>
                </a:solidFill>
              </a:rPr>
              <a:t>@SIH Idea submission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0" y="658368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999999"/>
                </a:solidFill>
              </a:rPr>
              <a:t>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00584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A3A6E"/>
                </a:solidFill>
              </a:rPr>
              <a:t>Impact &amp; Target Users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1417320"/>
            <a:ext cx="1737360" cy="822960"/>
          </a:xfrm>
          <a:prstGeom prst="roundRect">
            <a:avLst/>
          </a:prstGeom>
          <a:solidFill>
            <a:srgbClr val="1A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FF6B35"/>
                </a:solidFill>
              </a:rPr>
              <a:t>63M+</a:t>
            </a:r>
          </a:p>
          <a:p>
            <a:pPr algn="ctr"/>
            <a:r>
              <a:rPr sz="900">
                <a:solidFill>
                  <a:srgbClr val="CCCCCC"/>
                </a:solidFill>
              </a:rPr>
              <a:t>MSMEs in India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286000" y="1417320"/>
            <a:ext cx="1737360" cy="822960"/>
          </a:xfrm>
          <a:prstGeom prst="roundRect">
            <a:avLst/>
          </a:prstGeom>
          <a:solidFill>
            <a:srgbClr val="1A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FF6B35"/>
                </a:solidFill>
              </a:rPr>
              <a:t>28K+</a:t>
            </a:r>
          </a:p>
          <a:p>
            <a:pPr algn="ctr"/>
            <a:r>
              <a:rPr sz="900">
                <a:solidFill>
                  <a:srgbClr val="CCCCCC"/>
                </a:solidFill>
              </a:rPr>
              <a:t>BIS Standards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06240" y="1417320"/>
            <a:ext cx="1737360" cy="822960"/>
          </a:xfrm>
          <a:prstGeom prst="roundRect">
            <a:avLst/>
          </a:prstGeom>
          <a:solidFill>
            <a:srgbClr val="1A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FF6B35"/>
                </a:solidFill>
              </a:rPr>
              <a:t>2.5L Cr</a:t>
            </a:r>
          </a:p>
          <a:p>
            <a:pPr algn="ctr"/>
            <a:r>
              <a:rPr sz="900">
                <a:solidFill>
                  <a:srgbClr val="CCCCCC"/>
                </a:solidFill>
              </a:rPr>
              <a:t>Compliance Market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237744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A3A6E"/>
                </a:solidFill>
              </a:rPr>
              <a:t>Who Benefits?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2697480"/>
            <a:ext cx="256032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278892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1A3A6E"/>
                </a:solidFill>
              </a:rPr>
              <a:t>MSMEs &amp; Manufacturers</a:t>
            </a:r>
          </a:p>
          <a:p>
            <a:r>
              <a:rPr sz="900">
                <a:solidFill>
                  <a:srgbClr val="333333"/>
                </a:solidFill>
              </a:rPr>
              <a:t>Quick standards + cert answers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108960" y="2697480"/>
            <a:ext cx="256032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46120" y="278892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1A3A6E"/>
                </a:solidFill>
              </a:rPr>
              <a:t>Construction Companies</a:t>
            </a:r>
          </a:p>
          <a:p>
            <a:r>
              <a:rPr sz="900">
                <a:solidFill>
                  <a:srgbClr val="333333"/>
                </a:solidFill>
              </a:rPr>
              <a:t>Steel, cement compliance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5760" y="3520440"/>
            <a:ext cx="256032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361188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1A3A6E"/>
                </a:solidFill>
              </a:rPr>
              <a:t>Testing Labs</a:t>
            </a:r>
          </a:p>
          <a:p>
            <a:r>
              <a:rPr sz="900">
                <a:solidFill>
                  <a:srgbClr val="333333"/>
                </a:solidFill>
              </a:rPr>
              <a:t>Reference standards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108960" y="3520440"/>
            <a:ext cx="256032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46120" y="361188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1A3A6E"/>
                </a:solidFill>
              </a:rPr>
              <a:t>Quality Managers</a:t>
            </a:r>
          </a:p>
          <a:p>
            <a:r>
              <a:rPr sz="900">
                <a:solidFill>
                  <a:srgbClr val="333333"/>
                </a:solidFill>
              </a:rPr>
              <a:t>Stay updated via auto-fetch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100584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A3A6E"/>
                </a:solidFill>
              </a:rPr>
              <a:t>Development Roadmap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0" y="1417320"/>
            <a:ext cx="822960" cy="274320"/>
          </a:xfrm>
          <a:prstGeom prst="round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FFFFFF"/>
                </a:solidFill>
              </a:rPr>
              <a:t>DONE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0" y="1417320"/>
            <a:ext cx="4389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333333"/>
                </a:solidFill>
              </a:rPr>
              <a:t>MVP - 28 standards, 22 languages, RAG, auth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0" y="2148840"/>
            <a:ext cx="822960" cy="274320"/>
          </a:xfrm>
          <a:prstGeom prst="round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FFFFFF"/>
                </a:solidFill>
              </a:rPr>
              <a:t>NOW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0" y="2148840"/>
            <a:ext cx="4389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333333"/>
                </a:solidFill>
              </a:rPr>
              <a:t>Scale - All 28,000+ standards, PDF viewer, WhatsApp bot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0" y="2880360"/>
            <a:ext cx="822960" cy="274320"/>
          </a:xfrm>
          <a:prstGeom prst="roundRect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FFFFFF"/>
                </a:solidFill>
              </a:rPr>
              <a:t>FUTURE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0" y="2880360"/>
            <a:ext cx="4389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333333"/>
                </a:solidFill>
              </a:rPr>
              <a:t>Production - PostgreSQL, mobile app, voice, BIS integration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" y="457200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A3A6E"/>
                </a:solidFill>
              </a:rPr>
              <a:t>Business Model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65760" y="4892040"/>
            <a:ext cx="11338560" cy="146304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1A3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tIns="76200"/>
          <a:lstStyle/>
          <a:p>
            <a:pPr algn="ctr">
              <a:spcAft>
                <a:spcPts val="200"/>
              </a:spcAft>
            </a:pPr>
            <a:r>
              <a:rPr sz="1000">
                <a:solidFill>
                  <a:srgbClr val="FF6B35"/>
                </a:solidFill>
              </a:rPr>
              <a:t>&gt; </a:t>
            </a:r>
            <a:r>
              <a:rPr sz="1000" b="1">
                <a:solidFill>
                  <a:srgbClr val="1A3A6E"/>
                </a:solidFill>
              </a:rPr>
              <a:t>Free Tier:</a:t>
            </a:r>
            <a:r>
              <a:rPr sz="1000">
                <a:solidFill>
                  <a:srgbClr val="333333"/>
                </a:solidFill>
              </a:rPr>
              <a:t> 10 queries/day for individuals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FF6B35"/>
                </a:solidFill>
              </a:rPr>
              <a:t>&gt; </a:t>
            </a:r>
            <a:r>
              <a:rPr sz="1000" b="1">
                <a:solidFill>
                  <a:srgbClr val="1A3A6E"/>
                </a:solidFill>
              </a:rPr>
              <a:t>MSME (Rs.499/mo):</a:t>
            </a:r>
            <a:r>
              <a:rPr sz="1000">
                <a:solidFill>
                  <a:srgbClr val="333333"/>
                </a:solidFill>
              </a:rPr>
              <a:t> Unlimited + compliance calendar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FF6B35"/>
                </a:solidFill>
              </a:rPr>
              <a:t>&gt; </a:t>
            </a:r>
            <a:r>
              <a:rPr sz="1000" b="1">
                <a:solidFill>
                  <a:srgbClr val="1A3A6E"/>
                </a:solidFill>
              </a:rPr>
              <a:t>Enterprise (Rs.4,999/mo):</a:t>
            </a:r>
            <a:r>
              <a:rPr sz="1000">
                <a:solidFill>
                  <a:srgbClr val="333333"/>
                </a:solidFill>
              </a:rPr>
              <a:t> API + bulk check + support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FF6B35"/>
                </a:solidFill>
              </a:rPr>
              <a:t>&gt; </a:t>
            </a:r>
            <a:r>
              <a:rPr sz="1000" b="1">
                <a:solidFill>
                  <a:srgbClr val="1A3A6E"/>
                </a:solidFill>
              </a:rPr>
              <a:t>BIS Partnership:</a:t>
            </a:r>
            <a:r>
              <a:rPr sz="1000">
                <a:solidFill>
                  <a:srgbClr val="333333"/>
                </a:solidFill>
              </a:rPr>
              <a:t> Official data provider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FF6B35"/>
                </a:solidFill>
              </a:rPr>
              <a:t>&gt; </a:t>
            </a:r>
            <a:r>
              <a:rPr sz="1000" b="1">
                <a:solidFill>
                  <a:srgbClr val="1A3A6E"/>
                </a:solidFill>
              </a:rPr>
              <a:t>Govt Grant:</a:t>
            </a:r>
            <a:r>
              <a:rPr sz="1000">
                <a:solidFill>
                  <a:srgbClr val="333333"/>
                </a:solidFill>
              </a:rPr>
              <a:t> MSME Samadhaan scheme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229600" y="3657600"/>
            <a:ext cx="3657600" cy="3657600"/>
          </a:xfrm>
          <a:prstGeom prst="ellipse">
            <a:avLst/>
          </a:prstGeom>
          <a:solidFill>
            <a:srgbClr val="FF6B35">
              <a:lumMod val="12000"/>
              <a:lumOff val="8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0" y="1371600"/>
            <a:ext cx="8503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800" b="1">
                <a:solidFill>
                  <a:srgbClr val="FFFFFF"/>
                </a:solidFill>
              </a:rPr>
              <a:t>THANK </a:t>
            </a:r>
            <a:r>
              <a:rPr sz="4800" b="1">
                <a:solidFill>
                  <a:srgbClr val="FF6B35"/>
                </a:solidFill>
              </a:rPr>
              <a:t>YOU</a:t>
            </a:r>
          </a:p>
        </p:txBody>
      </p:sp>
      <p:sp>
        <p:nvSpPr>
          <p:cNvPr id="5" name="Rectangle 4"/>
          <p:cNvSpPr/>
          <p:nvPr/>
        </p:nvSpPr>
        <p:spPr>
          <a:xfrm>
            <a:off x="5184648" y="2423160"/>
            <a:ext cx="1828800" cy="36576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2651760"/>
            <a:ext cx="8503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>
                <a:solidFill>
                  <a:srgbClr val="CCCCCC"/>
                </a:solidFill>
              </a:rPr>
              <a:t>ManakMitra - Making BIS Standards Accessible
to Every Indian Manufacturer</a:t>
            </a:r>
          </a:p>
        </p:txBody>
      </p:sp>
      <p:sp>
        <p:nvSpPr>
          <p:cNvPr id="7" name="Oval 6"/>
          <p:cNvSpPr/>
          <p:nvPr/>
        </p:nvSpPr>
        <p:spPr>
          <a:xfrm>
            <a:off x="5641848" y="3566160"/>
            <a:ext cx="914400" cy="914400"/>
          </a:xfrm>
          <a:prstGeom prst="ellipse">
            <a:avLst/>
          </a:prstGeom>
          <a:solidFill>
            <a:srgbClr val="305080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0" y="4572000"/>
            <a:ext cx="3931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Pavan Kumar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0" y="4892040"/>
            <a:ext cx="3931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AAAAAA"/>
                </a:solidFill>
              </a:rPr>
              <a:t>Team Lead / Full Stack Developer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0" y="5303520"/>
            <a:ext cx="4846320" cy="640080"/>
          </a:xfrm>
          <a:prstGeom prst="roundRect">
            <a:avLst/>
          </a:prstGeom>
          <a:noFill/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>
                <a:solidFill>
                  <a:srgbClr val="AAAAAA"/>
                </a:solidFill>
              </a:rPr>
              <a:t>Try live at  </a:t>
            </a:r>
            <a:r>
              <a:rPr sz="1400" b="1">
                <a:solidFill>
                  <a:srgbClr val="FF6B35"/>
                </a:solidFill>
              </a:rPr>
              <a:t>manakmitra-frontend.vercel.app</a:t>
            </a:r>
          </a:p>
        </p:txBody>
      </p:sp>
      <p:sp>
        <p:nvSpPr>
          <p:cNvPr id="11" name="Oval 10"/>
          <p:cNvSpPr/>
          <p:nvPr/>
        </p:nvSpPr>
        <p:spPr>
          <a:xfrm>
            <a:off x="10972800" y="274320"/>
            <a:ext cx="731520" cy="731520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SIH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92640" y="274320"/>
            <a:ext cx="1188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CCCCCC"/>
                </a:solidFill>
              </a:rPr>
              <a:t>SMART INDIA
HACKATHON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9224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66666"/>
                </a:solidFill>
              </a:rPr>
              <a:t>@SIH Idea submission - Team Resonant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