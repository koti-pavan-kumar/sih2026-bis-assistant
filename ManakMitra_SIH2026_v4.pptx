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457200"/>
            <a:ext cx="2743200" cy="2743200"/>
          </a:xfrm>
          <a:prstGeom prst="ellipse">
            <a:avLst/>
          </a:prstGeom>
          <a:solidFill>
            <a:srgbClr val="FF6B35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80560" y="914400"/>
            <a:ext cx="3200400" cy="594360"/>
          </a:xfrm>
          <a:prstGeom prst="round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RESONANT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MANAK</a:t>
            </a:r>
            <a:r>
              <a:rPr sz="5200" b="1">
                <a:solidFill>
                  <a:srgbClr val="FF6B35"/>
                </a:solidFill>
              </a:rPr>
              <a:t>MITRA</a:t>
            </a:r>
            <a:endParaRPr sz="5200" b="1">
              <a:solidFill>
                <a:srgbClr val="FF6B35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84648" y="3017520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2918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CCCCCC"/>
                </a:solidFill>
              </a:rPr>
              <a:t>AI-Powered BIS Standards Compliance Assistant
for Indian MSMEs and Manufacturers</a:t>
            </a:r>
            <a:endParaRPr sz="1800">
              <a:solidFill>
                <a:srgbClr val="CCCCCC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800" y="4114800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6B35"/>
                </a:solidFill>
              </a:rPr>
              <a:t>YOUR GUIDE TO BUREAU OF INDIAN STANDARDS</a:t>
            </a:r>
            <a:endParaRPr sz="1400" b="1">
              <a:solidFill>
                <a:srgbClr val="FF6B35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43200" y="48463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6B35"/>
                </a:solidFill>
              </a:rPr>
              <a:t>28</a:t>
            </a:r>
            <a:endParaRPr sz="3200" b="1">
              <a:solidFill>
                <a:srgbClr val="FF6B35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43200" y="53492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AAAAAA"/>
                </a:solidFill>
              </a:rPr>
              <a:t>IS Standards</a:t>
            </a:r>
            <a:endParaRPr sz="1100">
              <a:solidFill>
                <a:srgbClr val="AAAAAA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0" y="48463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6B35"/>
                </a:solidFill>
              </a:rPr>
              <a:t>22</a:t>
            </a:r>
            <a:endParaRPr sz="3200" b="1">
              <a:solidFill>
                <a:srgbClr val="FF6B35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0" y="53492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AAAAAA"/>
                </a:solidFill>
              </a:rPr>
              <a:t>Languages</a:t>
            </a:r>
            <a:endParaRPr sz="1100">
              <a:solidFill>
                <a:srgbClr val="AAAAAA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0" y="48463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6B35"/>
                </a:solidFill>
              </a:rPr>
              <a:t>25+</a:t>
            </a:r>
            <a:endParaRPr sz="3200" b="1">
              <a:solidFill>
                <a:srgbClr val="FF6B35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0" y="53492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AAAAAA"/>
                </a:solidFill>
              </a:rPr>
              <a:t>BIS Offices</a:t>
            </a:r>
            <a:endParaRPr sz="1100">
              <a:solidFill>
                <a:srgbClr val="AAAAAA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0" y="48463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6B35"/>
                </a:solidFill>
              </a:rPr>
              <a:t>5</a:t>
            </a:r>
            <a:endParaRPr sz="3200" b="1">
              <a:solidFill>
                <a:srgbClr val="FF6B35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0" y="53492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AAAAAA"/>
                </a:solidFill>
              </a:rPr>
              <a:t>Certifications</a:t>
            </a:r>
            <a:endParaRPr sz="1100">
              <a:solidFill>
                <a:srgbClr val="AAAAAA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SIH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92640" y="27432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CCCCCC"/>
                </a:solidFill>
              </a:rPr>
              <a:t>SMART INDIA
HACKATHON 2026</a:t>
            </a:r>
            <a:endParaRPr sz="1100" b="1">
              <a:solidFill>
                <a:srgbClr val="CCCCC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4" name="Picture 6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81050"/>
            <a:ext cx="6840855" cy="404241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14630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A3A6E"/>
                </a:solidFill>
              </a:rPr>
              <a:t>Resonant</a:t>
            </a:r>
            <a:endParaRPr sz="1800" b="1">
              <a:solidFill>
                <a:srgbClr val="1A3A6E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00400" y="109728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A3A6E"/>
                </a:solidFill>
              </a:rPr>
              <a:t>MANAKMITRA</a:t>
            </a:r>
            <a:endParaRPr sz="2800" b="1">
              <a:solidFill>
                <a:srgbClr val="1A3A6E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10972800" y="91440"/>
            <a:ext cx="594360" cy="5943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SIH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875520" y="109728"/>
            <a:ext cx="1005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A3A6E"/>
                </a:solidFill>
              </a:rPr>
              <a:t>SMART INDIA
HACKATHON 2026</a:t>
            </a:r>
            <a:endParaRPr sz="1000" b="1">
              <a:solidFill>
                <a:srgbClr val="1A3A6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0" y="65836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2</a:t>
            </a:r>
            <a:endParaRPr sz="900">
              <a:solidFill>
                <a:srgbClr val="999999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583680" y="786765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A3A6E"/>
                </a:solidFill>
              </a:rPr>
              <a:t>System Architecture:</a:t>
            </a:r>
            <a:endParaRPr sz="1600" b="1">
              <a:solidFill>
                <a:srgbClr val="1A3A6E"/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8229599" y="1152525"/>
            <a:ext cx="2377440" cy="3657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900" b="0">
                <a:solidFill>
                  <a:srgbClr val="333333"/>
                </a:solidFill>
              </a:rPr>
              <a:t>User Query</a:t>
            </a:r>
            <a:endParaRPr sz="900" b="0">
              <a:solidFill>
                <a:srgbClr val="333333"/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8229599" y="1655445"/>
            <a:ext cx="2377440" cy="36576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900" b="0">
                <a:solidFill>
                  <a:srgbClr val="333333"/>
                </a:solidFill>
              </a:rPr>
              <a:t>Auto-Detect, Translate (22 Lang)</a:t>
            </a:r>
            <a:endParaRPr sz="900" b="0">
              <a:solidFill>
                <a:srgbClr val="333333"/>
              </a:solidFill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8046720" y="2158365"/>
            <a:ext cx="2743200" cy="411480"/>
          </a:xfrm>
          <a:prstGeom prst="roundRect">
            <a:avLst/>
          </a:prstGeom>
          <a:solidFill>
            <a:srgbClr val="1A3A6E"/>
          </a:solidFill>
          <a:ln w="190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RAG Engine (ONNX + FAISS)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7132320" y="2707005"/>
            <a:ext cx="2011680" cy="347472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800" b="0">
                <a:solidFill>
                  <a:srgbClr val="333333"/>
                </a:solidFill>
              </a:rPr>
              <a:t>ONNX Embeddings</a:t>
            </a:r>
            <a:endParaRPr sz="800" b="0">
              <a:solidFill>
                <a:srgbClr val="333333"/>
              </a:solidFill>
            </a:endParaRPr>
          </a:p>
          <a:p>
            <a:pPr algn="ctr"/>
            <a:r>
              <a:rPr sz="700">
                <a:solidFill>
                  <a:srgbClr val="333333"/>
                </a:solidFill>
              </a:rPr>
              <a:t>all-MiniLM-L6-v2</a:t>
            </a:r>
            <a:endParaRPr sz="700">
              <a:solidFill>
                <a:srgbClr val="333333"/>
              </a:solidFill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9326880" y="2707005"/>
            <a:ext cx="2011680" cy="347472"/>
          </a:xfrm>
          <a:prstGeom prst="roundRect">
            <a:avLst/>
          </a:prstGeom>
          <a:solidFill>
            <a:srgbClr val="FCE4EC"/>
          </a:solidFill>
          <a:ln w="1905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800" b="0">
                <a:solidFill>
                  <a:srgbClr val="333333"/>
                </a:solidFill>
              </a:rPr>
              <a:t>FAISS Vector Store</a:t>
            </a:r>
            <a:endParaRPr sz="800" b="0">
              <a:solidFill>
                <a:srgbClr val="333333"/>
              </a:solidFill>
            </a:endParaRPr>
          </a:p>
          <a:p>
            <a:pPr algn="ctr"/>
            <a:r>
              <a:rPr sz="700">
                <a:solidFill>
                  <a:srgbClr val="333333"/>
                </a:solidFill>
              </a:rPr>
              <a:t>28 Standards</a:t>
            </a:r>
            <a:endParaRPr sz="700">
              <a:solidFill>
                <a:srgbClr val="333333"/>
              </a:solidFill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8046720" y="3209925"/>
            <a:ext cx="2743200" cy="36576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900" b="0">
                <a:solidFill>
                  <a:srgbClr val="333333"/>
                </a:solidFill>
              </a:rPr>
              <a:t>Gemini 3.6 Flash (LLM)</a:t>
            </a:r>
            <a:endParaRPr sz="900" b="0">
              <a:solidFill>
                <a:srgbClr val="333333"/>
              </a:solidFill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6949440" y="3712844"/>
            <a:ext cx="1645920" cy="32004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900" b="0">
                <a:solidFill>
                  <a:srgbClr val="333333"/>
                </a:solidFill>
              </a:rPr>
              <a:t>BIS Standards (28)</a:t>
            </a:r>
            <a:endParaRPr sz="900" b="0">
              <a:solidFill>
                <a:srgbClr val="333333"/>
              </a:solidFill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8686799" y="3712844"/>
            <a:ext cx="1645920" cy="3200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900" b="0">
                <a:solidFill>
                  <a:srgbClr val="333333"/>
                </a:solidFill>
              </a:rPr>
              <a:t>25+ BIS Offices</a:t>
            </a:r>
            <a:endParaRPr sz="900" b="0">
              <a:solidFill>
                <a:srgbClr val="333333"/>
              </a:solidFill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10424160" y="3712844"/>
            <a:ext cx="1645920" cy="32004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900" b="0">
                <a:solidFill>
                  <a:srgbClr val="333333"/>
                </a:solidFill>
              </a:rPr>
              <a:t>Certifications</a:t>
            </a:r>
            <a:endParaRPr sz="900" b="0">
              <a:solidFill>
                <a:srgbClr val="333333"/>
              </a:solidFill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7589520" y="4215765"/>
            <a:ext cx="3291840" cy="3657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900" b="1">
                <a:solidFill>
                  <a:schemeClr val="tx1"/>
                </a:solidFill>
              </a:rPr>
              <a:t>6-Section Structured Response</a:t>
            </a:r>
            <a:endParaRPr sz="900" b="1">
              <a:solidFill>
                <a:schemeClr val="tx1"/>
              </a:solidFill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7132320" y="4718685"/>
            <a:ext cx="4389120" cy="320040"/>
          </a:xfrm>
          <a:prstGeom prst="roundRect">
            <a:avLst/>
          </a:prstGeom>
          <a:solidFill>
            <a:srgbClr val="EDE7F6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900" b="0">
                <a:solidFill>
                  <a:srgbClr val="333333"/>
                </a:solidFill>
              </a:rPr>
              <a:t>Chat | Standards | Offices | Certs</a:t>
            </a:r>
            <a:endParaRPr sz="900" b="0">
              <a:solidFill>
                <a:srgbClr val="333333"/>
              </a:solidFill>
            </a:endParaRPr>
          </a:p>
        </p:txBody>
      </p:sp>
      <p:sp>
        <p:nvSpPr>
          <p:cNvPr id="50" name="Down Arrow 49"/>
          <p:cNvSpPr/>
          <p:nvPr/>
        </p:nvSpPr>
        <p:spPr>
          <a:xfrm>
            <a:off x="9281160" y="1564005"/>
            <a:ext cx="13716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own Arrow 50"/>
          <p:cNvSpPr/>
          <p:nvPr/>
        </p:nvSpPr>
        <p:spPr>
          <a:xfrm>
            <a:off x="9281160" y="2066925"/>
            <a:ext cx="13716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own Arrow 51"/>
          <p:cNvSpPr/>
          <p:nvPr/>
        </p:nvSpPr>
        <p:spPr>
          <a:xfrm>
            <a:off x="8549640" y="2880360"/>
            <a:ext cx="13716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own Arrow 52"/>
          <p:cNvSpPr/>
          <p:nvPr/>
        </p:nvSpPr>
        <p:spPr>
          <a:xfrm>
            <a:off x="8549640" y="3429000"/>
            <a:ext cx="13716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Down Arrow 53"/>
          <p:cNvSpPr/>
          <p:nvPr/>
        </p:nvSpPr>
        <p:spPr>
          <a:xfrm>
            <a:off x="8549640" y="3931920"/>
            <a:ext cx="13716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own Arrow 54"/>
          <p:cNvSpPr/>
          <p:nvPr/>
        </p:nvSpPr>
        <p:spPr>
          <a:xfrm>
            <a:off x="8549640" y="4434840"/>
            <a:ext cx="13716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5840" y="4892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3A6E"/>
                </a:solidFill>
              </a:rPr>
              <a:t>How it addresses the problem:</a:t>
            </a:r>
            <a:endParaRPr sz="1300" b="1">
              <a:solidFill>
                <a:srgbClr val="1A3A6E"/>
              </a:solidFill>
            </a:endParaRPr>
          </a:p>
        </p:txBody>
      </p:sp>
      <p:sp>
        <p:nvSpPr>
          <p:cNvPr id="57" name="Oval 56"/>
          <p:cNvSpPr/>
          <p:nvPr/>
        </p:nvSpPr>
        <p:spPr>
          <a:xfrm>
            <a:off x="1554480" y="5166360"/>
            <a:ext cx="1188720" cy="118872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 b="1">
                <a:solidFill>
                  <a:srgbClr val="333333"/>
                </a:solidFill>
              </a:rPr>
              <a:t>SIMPLIFY
COMPLEX
STANDARDS</a:t>
            </a:r>
            <a:endParaRPr sz="700" b="1">
              <a:solidFill>
                <a:srgbClr val="333333"/>
              </a:solidFill>
            </a:endParaRPr>
          </a:p>
        </p:txBody>
      </p:sp>
      <p:sp>
        <p:nvSpPr>
          <p:cNvPr id="58" name="Oval 57"/>
          <p:cNvSpPr/>
          <p:nvPr/>
        </p:nvSpPr>
        <p:spPr>
          <a:xfrm>
            <a:off x="1097280" y="5394960"/>
            <a:ext cx="1188720" cy="118872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 b="1">
                <a:solidFill>
                  <a:srgbClr val="333333"/>
                </a:solidFill>
              </a:rPr>
              <a:t>UNIFIED
COMPLIANCE
PLATFORM</a:t>
            </a:r>
            <a:endParaRPr sz="700" b="1">
              <a:solidFill>
                <a:srgbClr val="333333"/>
              </a:solidFill>
            </a:endParaRPr>
          </a:p>
        </p:txBody>
      </p:sp>
      <p:sp>
        <p:nvSpPr>
          <p:cNvPr id="59" name="Oval 58"/>
          <p:cNvSpPr/>
          <p:nvPr/>
        </p:nvSpPr>
        <p:spPr>
          <a:xfrm>
            <a:off x="2011680" y="5394960"/>
            <a:ext cx="1188720" cy="1188720"/>
          </a:xfrm>
          <a:prstGeom prst="ellipse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 b="1">
                <a:solidFill>
                  <a:srgbClr val="333333"/>
                </a:solidFill>
              </a:rPr>
              <a:t>MULTILINGUAL
AI (22 Lang)</a:t>
            </a:r>
            <a:endParaRPr sz="700" b="1">
              <a:solidFill>
                <a:srgbClr val="333333"/>
              </a:solidFill>
            </a:endParaRPr>
          </a:p>
        </p:txBody>
      </p:sp>
      <p:sp>
        <p:nvSpPr>
          <p:cNvPr id="60" name="Oval 59"/>
          <p:cNvSpPr/>
          <p:nvPr/>
        </p:nvSpPr>
        <p:spPr>
          <a:xfrm>
            <a:off x="1783080" y="5532120"/>
            <a:ext cx="777240" cy="777240"/>
          </a:xfrm>
          <a:prstGeom prst="ellipse">
            <a:avLst/>
          </a:prstGeom>
          <a:solidFill>
            <a:srgbClr val="1A3A6E"/>
          </a:solidFill>
          <a:ln w="190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MANAK
MITRA</a:t>
            </a:r>
            <a:endParaRPr sz="800" b="1">
              <a:solidFill>
                <a:srgbClr val="FFFFFF"/>
              </a:solidFill>
            </a:endParaRPr>
          </a:p>
        </p:txBody>
      </p:sp>
      <p:pic>
        <p:nvPicPr>
          <p:cNvPr id="65" name="Picture 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5111750"/>
            <a:ext cx="7118985" cy="16281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14630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A3A6E"/>
                </a:solidFill>
              </a:rPr>
              <a:t>Resonant</a:t>
            </a:r>
            <a:endParaRPr sz="1800" b="1">
              <a:solidFill>
                <a:srgbClr val="1A3A6E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00400" y="109728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A3A6E"/>
                </a:solidFill>
              </a:rPr>
              <a:t>MANAKMITRA</a:t>
            </a:r>
            <a:endParaRPr sz="2800" b="1">
              <a:solidFill>
                <a:srgbClr val="1A3A6E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10972800" y="91440"/>
            <a:ext cx="594360" cy="5943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SIH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875520" y="109728"/>
            <a:ext cx="1005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A3A6E"/>
                </a:solidFill>
              </a:rPr>
              <a:t>SMART INDIA
HACKATHON 2026</a:t>
            </a:r>
            <a:endParaRPr sz="1000" b="1">
              <a:solidFill>
                <a:srgbClr val="1A3A6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@SIH Idea submission</a:t>
            </a:r>
            <a:endParaRPr sz="900">
              <a:solidFill>
                <a:srgbClr val="999999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0" y="65836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3</a:t>
            </a:r>
            <a:endParaRPr sz="900">
              <a:solidFill>
                <a:srgbClr val="999999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00400" y="9144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3A6E"/>
                </a:solidFill>
              </a:rPr>
              <a:t>TECHNICAL APPROACH</a:t>
            </a:r>
            <a:endParaRPr sz="2200" b="1">
              <a:solidFill>
                <a:srgbClr val="1A3A6E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A3A6E"/>
                </a:solidFill>
              </a:rPr>
              <a:t>Tech Stack:</a:t>
            </a:r>
            <a:endParaRPr sz="1800" b="1">
              <a:solidFill>
                <a:srgbClr val="1A3A6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18288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FF6B35"/>
                </a:solidFill>
              </a:rPr>
              <a:t>&gt; </a:t>
            </a:r>
            <a:r>
              <a:rPr sz="1300" b="1">
                <a:solidFill>
                  <a:srgbClr val="1A3A6E"/>
                </a:solidFill>
              </a:rPr>
              <a:t>Frontend:</a:t>
            </a:r>
            <a:r>
              <a:rPr sz="1300">
                <a:solidFill>
                  <a:srgbClr val="333333"/>
                </a:solidFill>
              </a:rPr>
              <a:t> React.js, Vite, Tailwind CSS</a:t>
            </a:r>
            <a:endParaRPr sz="1300">
              <a:solidFill>
                <a:srgbClr val="333333"/>
              </a:solidFill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F6B35"/>
                </a:solidFill>
              </a:rPr>
              <a:t>&gt; </a:t>
            </a:r>
            <a:r>
              <a:rPr sz="1300" b="1">
                <a:solidFill>
                  <a:srgbClr val="1A3A6E"/>
                </a:solidFill>
              </a:rPr>
              <a:t>Backend:</a:t>
            </a:r>
            <a:r>
              <a:rPr sz="1300">
                <a:solidFill>
                  <a:srgbClr val="333333"/>
                </a:solidFill>
              </a:rPr>
              <a:t> Python, FastAPI, Uvicorn</a:t>
            </a:r>
            <a:endParaRPr sz="1300">
              <a:solidFill>
                <a:srgbClr val="333333"/>
              </a:solidFill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F6B35"/>
                </a:solidFill>
              </a:rPr>
              <a:t>&gt; </a:t>
            </a:r>
            <a:r>
              <a:rPr sz="1300" b="1">
                <a:solidFill>
                  <a:srgbClr val="1A3A6E"/>
                </a:solidFill>
              </a:rPr>
              <a:t>Database &amp; Storage:</a:t>
            </a:r>
            <a:r>
              <a:rPr sz="1300">
                <a:solidFill>
                  <a:srgbClr val="333333"/>
                </a:solidFill>
              </a:rPr>
              <a:t> FAISS Vector Store, JSON user store</a:t>
            </a:r>
            <a:endParaRPr sz="1300">
              <a:solidFill>
                <a:srgbClr val="333333"/>
              </a:solidFill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F6B35"/>
                </a:solidFill>
              </a:rPr>
              <a:t>&gt; </a:t>
            </a:r>
            <a:r>
              <a:rPr sz="1300" b="1">
                <a:solidFill>
                  <a:srgbClr val="1A3A6E"/>
                </a:solidFill>
              </a:rPr>
              <a:t>AI &amp; ML:</a:t>
            </a:r>
            <a:r>
              <a:rPr sz="1300">
                <a:solidFill>
                  <a:srgbClr val="333333"/>
                </a:solidFill>
              </a:rPr>
              <a:t> Google Gemini API, ONNX Runtime, Sentence Transformers</a:t>
            </a:r>
            <a:endParaRPr sz="1300">
              <a:solidFill>
                <a:srgbClr val="333333"/>
              </a:solidFill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F6B35"/>
                </a:solidFill>
              </a:rPr>
              <a:t>&gt; </a:t>
            </a:r>
            <a:r>
              <a:rPr sz="1300" b="1">
                <a:solidFill>
                  <a:srgbClr val="1A3A6E"/>
                </a:solidFill>
              </a:rPr>
              <a:t>Embeddings:</a:t>
            </a:r>
            <a:r>
              <a:rPr sz="1300">
                <a:solidFill>
                  <a:srgbClr val="333333"/>
                </a:solidFill>
              </a:rPr>
              <a:t> all-MiniLM-L6-v2 (384-dim), FAISS indexing</a:t>
            </a:r>
            <a:endParaRPr sz="1300">
              <a:solidFill>
                <a:srgbClr val="333333"/>
              </a:solidFill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F6B35"/>
                </a:solidFill>
              </a:rPr>
              <a:t>&gt; </a:t>
            </a:r>
            <a:r>
              <a:rPr sz="1300" b="1">
                <a:solidFill>
                  <a:srgbClr val="1A3A6E"/>
                </a:solidFill>
              </a:rPr>
              <a:t>Document Processing:</a:t>
            </a:r>
            <a:r>
              <a:rPr sz="1300">
                <a:solidFill>
                  <a:srgbClr val="333333"/>
                </a:solidFill>
              </a:rPr>
              <a:t> PDFPlumber, Text chunking, Vector indexing</a:t>
            </a:r>
            <a:endParaRPr sz="1300">
              <a:solidFill>
                <a:srgbClr val="333333"/>
              </a:solidFill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F6B35"/>
                </a:solidFill>
              </a:rPr>
              <a:t>&gt; </a:t>
            </a:r>
            <a:r>
              <a:rPr sz="1300" b="1">
                <a:solidFill>
                  <a:srgbClr val="1A3A6E"/>
                </a:solidFill>
              </a:rPr>
              <a:t>Authentication:</a:t>
            </a:r>
            <a:r>
              <a:rPr sz="1300">
                <a:solidFill>
                  <a:srgbClr val="333333"/>
                </a:solidFill>
              </a:rPr>
              <a:t> JWT tokens, bcrypt password hashing</a:t>
            </a:r>
            <a:endParaRPr sz="1300">
              <a:solidFill>
                <a:srgbClr val="333333"/>
              </a:solidFill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F6B35"/>
                </a:solidFill>
              </a:rPr>
              <a:t>&gt; </a:t>
            </a:r>
            <a:r>
              <a:rPr sz="1300" b="1">
                <a:solidFill>
                  <a:srgbClr val="1A3A6E"/>
                </a:solidFill>
              </a:rPr>
              <a:t>Multilingual:</a:t>
            </a:r>
            <a:r>
              <a:rPr sz="1300">
                <a:solidFill>
                  <a:srgbClr val="333333"/>
                </a:solidFill>
              </a:rPr>
              <a:t> deep-translator, langdetect (22 Indian languages)</a:t>
            </a:r>
            <a:endParaRPr sz="1300">
              <a:solidFill>
                <a:srgbClr val="333333"/>
              </a:solidFill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F6B35"/>
                </a:solidFill>
              </a:rPr>
              <a:t>&gt; </a:t>
            </a:r>
            <a:r>
              <a:rPr sz="1300" b="1">
                <a:solidFill>
                  <a:srgbClr val="1A3A6E"/>
                </a:solidFill>
              </a:rPr>
              <a:t>Deployment:</a:t>
            </a:r>
            <a:r>
              <a:rPr sz="1300">
                <a:solidFill>
                  <a:srgbClr val="333333"/>
                </a:solidFill>
              </a:rPr>
              <a:t> Git/GitHub, Vercel (Frontend), Render (Backend)</a:t>
            </a:r>
            <a:endParaRPr sz="1300">
              <a:solidFill>
                <a:srgbClr val="333333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51206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3A6E"/>
                </a:solidFill>
              </a:rPr>
              <a:t>Live prototype: </a:t>
            </a:r>
            <a:r>
              <a:rPr sz="1400" b="1">
                <a:solidFill>
                  <a:srgbClr val="2196F3"/>
                </a:solidFill>
              </a:rPr>
              <a:t>manakmitra-frontend.vercel.app</a:t>
            </a:r>
            <a:endParaRPr sz="1400" b="1">
              <a:solidFill>
                <a:srgbClr val="2196F3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760720" y="1371600"/>
            <a:ext cx="27432" cy="50292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4173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A6E"/>
                </a:solidFill>
              </a:rPr>
              <a:t>Architecture Flow:</a:t>
            </a:r>
            <a:endParaRPr sz="1600" b="1">
              <a:solidFill>
                <a:srgbClr val="1A3A6E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17920" y="1920240"/>
            <a:ext cx="2011680" cy="9144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rtlCol="0" anchor="ctr"/>
          <a:lstStyle/>
          <a:p>
            <a:pPr algn="ctr"/>
          </a:p>
          <a:p>
            <a:pPr algn="ctr"/>
            <a:r>
              <a:rPr sz="1000" b="1">
                <a:solidFill>
                  <a:srgbClr val="4CAF50"/>
                </a:solidFill>
              </a:rPr>
              <a:t>User</a:t>
            </a:r>
            <a:endParaRPr sz="1000" b="1">
              <a:solidFill>
                <a:srgbClr val="4CAF50"/>
              </a:solidFill>
            </a:endParaRP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Enters product query</a:t>
            </a:r>
            <a:endParaRPr sz="800">
              <a:solidFill>
                <a:srgbClr val="333333"/>
              </a:solidFill>
            </a:endParaRP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Selects language</a:t>
            </a:r>
            <a:endParaRPr sz="800">
              <a:solidFill>
                <a:srgbClr val="333333"/>
              </a:solidFill>
            </a:endParaRP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Voice input (opt)</a:t>
            </a:r>
            <a:endParaRPr sz="800">
              <a:solidFill>
                <a:srgbClr val="333333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503920" y="1920240"/>
            <a:ext cx="2011680" cy="9144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rtlCol="0" anchor="ctr"/>
          <a:lstStyle/>
          <a:p>
            <a:pPr algn="ctr"/>
          </a:p>
          <a:p>
            <a:pPr algn="ctr"/>
            <a:r>
              <a:rPr sz="1000" b="1">
                <a:solidFill>
                  <a:srgbClr val="2196F3"/>
                </a:solidFill>
              </a:rPr>
              <a:t>ManakMitra App</a:t>
            </a:r>
            <a:endParaRPr sz="1000" b="1">
              <a:solidFill>
                <a:srgbClr val="2196F3"/>
              </a:solidFill>
            </a:endParaRP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React + Vite</a:t>
            </a:r>
            <a:endParaRPr sz="800">
              <a:solidFill>
                <a:srgbClr val="333333"/>
              </a:solidFill>
            </a:endParaRP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Multilingual UI</a:t>
            </a:r>
            <a:endParaRPr sz="800">
              <a:solidFill>
                <a:srgbClr val="333333"/>
              </a:solidFill>
            </a:endParaRP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Chat + Dashboard</a:t>
            </a:r>
            <a:endParaRPr sz="800">
              <a:solidFill>
                <a:srgbClr val="333333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0789920" y="1920240"/>
            <a:ext cx="1371600" cy="914400"/>
          </a:xfrm>
          <a:prstGeom prst="roundRect">
            <a:avLst/>
          </a:prstGeom>
          <a:solidFill>
            <a:srgbClr val="1A3A6E"/>
          </a:solidFill>
          <a:ln w="190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rtlCol="0" anchor="ctr"/>
          <a:lstStyle/>
          <a:p>
            <a:pPr algn="ctr"/>
          </a:p>
          <a:p>
            <a:pPr algn="ctr"/>
            <a:r>
              <a:rPr sz="1000" b="1">
                <a:solidFill>
                  <a:srgbClr val="1A3A6E"/>
                </a:solidFill>
              </a:rPr>
              <a:t>RAG Engine</a:t>
            </a:r>
            <a:endParaRPr sz="1000" b="1">
              <a:solidFill>
                <a:srgbClr val="1A3A6E"/>
              </a:solidFill>
            </a:endParaRP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ONNX + FAISS</a:t>
            </a:r>
            <a:endParaRPr sz="800">
              <a:solidFill>
                <a:srgbClr val="333333"/>
              </a:solidFill>
            </a:endParaRP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Vector search</a:t>
            </a:r>
            <a:endParaRPr sz="800">
              <a:solidFill>
                <a:srgbClr val="333333"/>
              </a:solidFill>
            </a:endParaRP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Context retrieval</a:t>
            </a:r>
            <a:endParaRPr sz="800">
              <a:solidFill>
                <a:srgbClr val="333333"/>
              </a:solidFill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8275320" y="2286000"/>
            <a:ext cx="228600" cy="13716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10561320" y="2286000"/>
            <a:ext cx="228600" cy="13716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0" y="3017520"/>
            <a:ext cx="2011680" cy="82296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rtlCol="0" anchor="ctr"/>
          <a:lstStyle/>
          <a:p>
            <a:pPr algn="ctr"/>
          </a:p>
          <a:p>
            <a:pPr algn="ctr"/>
            <a:r>
              <a:rPr sz="1000" b="1">
                <a:solidFill>
                  <a:srgbClr val="FF9800"/>
                </a:solidFill>
              </a:rPr>
              <a:t>BIS Retrieval</a:t>
            </a:r>
            <a:endParaRPr sz="1000" b="1">
              <a:solidFill>
                <a:srgbClr val="FF9800"/>
              </a:solidFill>
            </a:endParaRP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Fetch standards from</a:t>
            </a:r>
            <a:endParaRPr sz="800">
              <a:solidFill>
                <a:srgbClr val="333333"/>
              </a:solidFill>
            </a:endParaRP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bis.gov.in</a:t>
            </a:r>
            <a:endParaRPr sz="800">
              <a:solidFill>
                <a:srgbClr val="333333"/>
              </a:solidFill>
            </a:endParaRP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Auto-fetch pipeline</a:t>
            </a:r>
            <a:endParaRPr sz="800">
              <a:solidFill>
                <a:srgbClr val="333333"/>
              </a:solidFill>
            </a:endParaRPr>
          </a:p>
        </p:txBody>
      </p:sp>
      <p:sp>
        <p:nvSpPr>
          <p:cNvPr id="22" name="Down Arrow 21"/>
          <p:cNvSpPr/>
          <p:nvPr/>
        </p:nvSpPr>
        <p:spPr>
          <a:xfrm>
            <a:off x="7132320" y="2880360"/>
            <a:ext cx="137160" cy="13716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503920" y="3017520"/>
            <a:ext cx="2011680" cy="82296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rtlCol="0" anchor="ctr"/>
          <a:lstStyle/>
          <a:p>
            <a:pPr algn="ctr"/>
          </a:p>
          <a:p>
            <a:pPr algn="ctr"/>
            <a:r>
              <a:rPr sz="1000" b="1">
                <a:solidFill>
                  <a:srgbClr val="9C27B0"/>
                </a:solidFill>
              </a:rPr>
              <a:t>Gemini LLM</a:t>
            </a:r>
            <a:endParaRPr sz="1000" b="1">
              <a:solidFill>
                <a:srgbClr val="9C27B0"/>
              </a:solidFill>
            </a:endParaRP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Generate 6-section</a:t>
            </a:r>
            <a:endParaRPr sz="800">
              <a:solidFill>
                <a:srgbClr val="333333"/>
              </a:solidFill>
            </a:endParaRP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structured response</a:t>
            </a:r>
            <a:endParaRPr sz="800">
              <a:solidFill>
                <a:srgbClr val="333333"/>
              </a:solidFill>
            </a:endParaRP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Source-grounded</a:t>
            </a:r>
            <a:endParaRPr sz="800">
              <a:solidFill>
                <a:srgbClr val="333333"/>
              </a:solidFill>
            </a:endParaRPr>
          </a:p>
        </p:txBody>
      </p:sp>
      <p:sp>
        <p:nvSpPr>
          <p:cNvPr id="24" name="Right Arrow 23"/>
          <p:cNvSpPr/>
          <p:nvPr/>
        </p:nvSpPr>
        <p:spPr>
          <a:xfrm>
            <a:off x="8275320" y="3337560"/>
            <a:ext cx="228600" cy="13716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789920" y="3017520"/>
            <a:ext cx="1371600" cy="8229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rtlCol="0" anchor="ctr"/>
          <a:lstStyle/>
          <a:p>
            <a:pPr algn="ctr"/>
          </a:p>
          <a:p>
            <a:pPr algn="ctr"/>
            <a:r>
              <a:rPr sz="1000" b="1">
                <a:solidFill>
                  <a:srgbClr val="4CAF50"/>
                </a:solidFill>
              </a:rPr>
              <a:t>Response</a:t>
            </a:r>
            <a:endParaRPr sz="1000" b="1">
              <a:solidFill>
                <a:srgbClr val="4CAF50"/>
              </a:solidFill>
            </a:endParaRP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Standards + Testing</a:t>
            </a:r>
            <a:endParaRPr sz="800">
              <a:solidFill>
                <a:srgbClr val="333333"/>
              </a:solidFill>
            </a:endParaRP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Offices + Certs</a:t>
            </a:r>
            <a:endParaRPr sz="800">
              <a:solidFill>
                <a:srgbClr val="333333"/>
              </a:solidFill>
            </a:endParaRPr>
          </a:p>
          <a:p>
            <a:pPr algn="ctr">
              <a:spcBef>
                <a:spcPts val="100"/>
              </a:spcBef>
            </a:pPr>
            <a:r>
              <a:rPr sz="800">
                <a:solidFill>
                  <a:srgbClr val="333333"/>
                </a:solidFill>
              </a:rPr>
              <a:t>Documents + QC</a:t>
            </a:r>
            <a:endParaRPr sz="800">
              <a:solidFill>
                <a:srgbClr val="333333"/>
              </a:solidFill>
            </a:endParaRPr>
          </a:p>
        </p:txBody>
      </p:sp>
      <p:sp>
        <p:nvSpPr>
          <p:cNvPr id="26" name="Down Arrow 25"/>
          <p:cNvSpPr/>
          <p:nvPr/>
        </p:nvSpPr>
        <p:spPr>
          <a:xfrm>
            <a:off x="11430000" y="3886200"/>
            <a:ext cx="137160" cy="13716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17920" y="4114800"/>
            <a:ext cx="1371600" cy="640080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333333"/>
                </a:solidFill>
              </a:rPr>
              <a:t>Standards
Library</a:t>
            </a:r>
            <a:endParaRPr sz="900" b="1">
              <a:solidFill>
                <a:srgbClr val="333333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0" y="4114800"/>
            <a:ext cx="1371600" cy="64008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333333"/>
                </a:solidFill>
              </a:rPr>
              <a:t>BIS Office
Finder</a:t>
            </a:r>
            <a:endParaRPr sz="900" b="1">
              <a:solidFill>
                <a:srgbClr val="333333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326880" y="4114800"/>
            <a:ext cx="1371600" cy="64008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333333"/>
                </a:solidFill>
              </a:rPr>
              <a:t>Certification
Guide</a:t>
            </a:r>
            <a:endParaRPr sz="900" b="1">
              <a:solidFill>
                <a:srgbClr val="333333"/>
              </a:solidFill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10881360" y="4114800"/>
            <a:ext cx="1371600" cy="640080"/>
          </a:xfrm>
          <a:prstGeom prst="roundRect">
            <a:avLst/>
          </a:prstGeom>
          <a:solidFill>
            <a:srgbClr val="FCE4EC"/>
          </a:solidFill>
          <a:ln w="1270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333333"/>
                </a:solidFill>
              </a:rPr>
              <a:t>Analytics
Dashboard</a:t>
            </a:r>
            <a:endParaRPr sz="900" b="1">
              <a:solidFill>
                <a:srgbClr val="333333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217920" y="49377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3A6E"/>
                </a:solidFill>
              </a:rPr>
              <a:t>Tech Used:</a:t>
            </a:r>
            <a:endParaRPr sz="1300" b="1">
              <a:solidFill>
                <a:srgbClr val="1A3A6E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217920" y="5212080"/>
            <a:ext cx="1097280" cy="8229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tlCol="0" anchor="ctr"/>
          <a:lstStyle/>
          <a:p>
            <a:pPr algn="ctr"/>
            <a:r>
              <a:rPr sz="800" b="1">
                <a:solidFill>
                  <a:srgbClr val="1A3A6E"/>
                </a:solidFill>
              </a:rPr>
              <a:t>Frontend</a:t>
            </a:r>
            <a:endParaRPr sz="800" b="1">
              <a:solidFill>
                <a:srgbClr val="1A3A6E"/>
              </a:solidFill>
            </a:endParaRP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React</a:t>
            </a:r>
            <a:endParaRPr sz="700">
              <a:solidFill>
                <a:srgbClr val="333333"/>
              </a:solidFill>
            </a:endParaRP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Vite</a:t>
            </a:r>
            <a:endParaRPr sz="700">
              <a:solidFill>
                <a:srgbClr val="333333"/>
              </a:solidFill>
            </a:endParaRP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Tailwind</a:t>
            </a:r>
            <a:endParaRPr sz="700">
              <a:solidFill>
                <a:srgbClr val="333333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424927" y="5212080"/>
            <a:ext cx="1097280" cy="8229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tlCol="0" anchor="ctr"/>
          <a:lstStyle/>
          <a:p>
            <a:pPr algn="ctr"/>
            <a:r>
              <a:rPr sz="800" b="1">
                <a:solidFill>
                  <a:srgbClr val="1A3A6E"/>
                </a:solidFill>
              </a:rPr>
              <a:t>Backend</a:t>
            </a:r>
            <a:endParaRPr sz="800" b="1">
              <a:solidFill>
                <a:srgbClr val="1A3A6E"/>
              </a:solidFill>
            </a:endParaRP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Python</a:t>
            </a:r>
            <a:endParaRPr sz="700">
              <a:solidFill>
                <a:srgbClr val="333333"/>
              </a:solidFill>
            </a:endParaRP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FastAPI</a:t>
            </a:r>
            <a:endParaRPr sz="700">
              <a:solidFill>
                <a:srgbClr val="333333"/>
              </a:solidFill>
            </a:endParaRP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Uvicorn</a:t>
            </a:r>
            <a:endParaRPr sz="700">
              <a:solidFill>
                <a:srgbClr val="333333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631936" y="5212080"/>
            <a:ext cx="1097280" cy="82296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tlCol="0" anchor="ctr"/>
          <a:lstStyle/>
          <a:p>
            <a:pPr algn="ctr"/>
            <a:r>
              <a:rPr sz="800" b="1">
                <a:solidFill>
                  <a:srgbClr val="1A3A6E"/>
                </a:solidFill>
              </a:rPr>
              <a:t>AI/ML</a:t>
            </a:r>
            <a:endParaRPr sz="800" b="1">
              <a:solidFill>
                <a:srgbClr val="1A3A6E"/>
              </a:solidFill>
            </a:endParaRP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Gemini</a:t>
            </a:r>
            <a:endParaRPr sz="700">
              <a:solidFill>
                <a:srgbClr val="333333"/>
              </a:solidFill>
            </a:endParaRP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ONNX</a:t>
            </a:r>
            <a:endParaRPr sz="700">
              <a:solidFill>
                <a:srgbClr val="333333"/>
              </a:solidFill>
            </a:endParaRP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FAISS</a:t>
            </a:r>
            <a:endParaRPr sz="700">
              <a:solidFill>
                <a:srgbClr val="333333"/>
              </a:solidFill>
            </a:endParaRP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NumPy</a:t>
            </a:r>
            <a:endParaRPr sz="700">
              <a:solidFill>
                <a:srgbClr val="333333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9838944" y="5212080"/>
            <a:ext cx="1097280" cy="82296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tlCol="0" anchor="ctr"/>
          <a:lstStyle/>
          <a:p>
            <a:pPr algn="ctr"/>
            <a:r>
              <a:rPr sz="800" b="1">
                <a:solidFill>
                  <a:srgbClr val="1A3A6E"/>
                </a:solidFill>
              </a:rPr>
              <a:t>Data</a:t>
            </a:r>
            <a:endParaRPr sz="800" b="1">
              <a:solidFill>
                <a:srgbClr val="1A3A6E"/>
              </a:solidFill>
            </a:endParaRP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PDF</a:t>
            </a:r>
            <a:endParaRPr sz="700">
              <a:solidFill>
                <a:srgbClr val="333333"/>
              </a:solidFill>
            </a:endParaRP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Chunk</a:t>
            </a:r>
            <a:endParaRPr sz="700">
              <a:solidFill>
                <a:srgbClr val="333333"/>
              </a:solidFill>
            </a:endParaRP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Embed</a:t>
            </a:r>
            <a:endParaRPr sz="700">
              <a:solidFill>
                <a:srgbClr val="333333"/>
              </a:solidFill>
            </a:endParaRP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Index</a:t>
            </a:r>
            <a:endParaRPr sz="700">
              <a:solidFill>
                <a:srgbClr val="333333"/>
              </a:solidFill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11045952" y="5212080"/>
            <a:ext cx="1097280" cy="82296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tlCol="0" anchor="ctr"/>
          <a:lstStyle/>
          <a:p>
            <a:pPr algn="ctr"/>
            <a:r>
              <a:rPr sz="800" b="1">
                <a:solidFill>
                  <a:srgbClr val="1A3A6E"/>
                </a:solidFill>
              </a:rPr>
              <a:t>Services</a:t>
            </a:r>
            <a:endParaRPr sz="800" b="1">
              <a:solidFill>
                <a:srgbClr val="1A3A6E"/>
              </a:solidFill>
            </a:endParaRP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JWT</a:t>
            </a:r>
            <a:endParaRPr sz="700">
              <a:solidFill>
                <a:srgbClr val="333333"/>
              </a:solidFill>
            </a:endParaRP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22Lang</a:t>
            </a:r>
            <a:endParaRPr sz="700">
              <a:solidFill>
                <a:srgbClr val="333333"/>
              </a:solidFill>
            </a:endParaRP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Maps</a:t>
            </a:r>
            <a:endParaRPr sz="700">
              <a:solidFill>
                <a:srgbClr val="333333"/>
              </a:solidFill>
            </a:endParaRP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333333"/>
                </a:solidFill>
              </a:rPr>
              <a:t>Fetch</a:t>
            </a:r>
            <a:endParaRPr sz="700">
              <a:solidFill>
                <a:srgbClr val="333333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57200" y="5120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3A6E"/>
                </a:solidFill>
              </a:rPr>
              <a:t>App Screenshots:</a:t>
            </a:r>
            <a:endParaRPr sz="1300" b="1">
              <a:solidFill>
                <a:srgbClr val="1A3A6E"/>
              </a:solidFill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457200" y="5440680"/>
            <a:ext cx="118872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6692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99999"/>
                </a:solidFill>
              </a:rPr>
              <a:t>BIS Offices</a:t>
            </a:r>
            <a:endParaRPr sz="800">
              <a:solidFill>
                <a:srgbClr val="999999"/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828800" y="5440680"/>
            <a:ext cx="118872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20240" y="56692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99999"/>
                </a:solidFill>
              </a:rPr>
              <a:t>BIS Offices Dark</a:t>
            </a:r>
            <a:endParaRPr sz="800">
              <a:solidFill>
                <a:srgbClr val="999999"/>
              </a:solidFill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3200400" y="5440680"/>
            <a:ext cx="118872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1840" y="56692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99999"/>
                </a:solidFill>
              </a:rPr>
              <a:t>Auto-Fetch</a:t>
            </a:r>
            <a:endParaRPr sz="800">
              <a:solidFill>
                <a:srgbClr val="999999"/>
              </a:solidFill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4572000" y="5440680"/>
            <a:ext cx="118872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63440" y="566928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99999"/>
                </a:solidFill>
              </a:rPr>
              <a:t>Auto-Fetch Dark</a:t>
            </a:r>
            <a:endParaRPr sz="800">
              <a:solidFill>
                <a:srgbClr val="999999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217920" y="5120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3A6E"/>
                </a:solidFill>
              </a:rPr>
              <a:t>Key Features:</a:t>
            </a:r>
            <a:endParaRPr sz="1300" b="1">
              <a:solidFill>
                <a:srgbClr val="1A3A6E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217920" y="54406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FF6B35"/>
                </a:solidFill>
              </a:rPr>
              <a:t>&gt; </a:t>
            </a:r>
            <a:r>
              <a:rPr sz="900" b="1">
                <a:solidFill>
                  <a:srgbClr val="1A3A6E"/>
                </a:solidFill>
              </a:rPr>
              <a:t>22 Indian Languages</a:t>
            </a:r>
            <a:endParaRPr sz="900" b="1">
              <a:solidFill>
                <a:srgbClr val="1A3A6E"/>
              </a:solidFill>
            </a:endParaRP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FF6B35"/>
                </a:solidFill>
              </a:rPr>
              <a:t>&gt; </a:t>
            </a:r>
            <a:r>
              <a:rPr sz="900" b="1">
                <a:solidFill>
                  <a:srgbClr val="1A3A6E"/>
                </a:solidFill>
              </a:rPr>
              <a:t>6-Section AI Response</a:t>
            </a:r>
            <a:endParaRPr sz="900" b="1">
              <a:solidFill>
                <a:srgbClr val="1A3A6E"/>
              </a:solidFill>
            </a:endParaRP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FF6B35"/>
                </a:solidFill>
              </a:rPr>
              <a:t>&gt; </a:t>
            </a:r>
            <a:r>
              <a:rPr sz="900" b="1">
                <a:solidFill>
                  <a:srgbClr val="1A3A6E"/>
                </a:solidFill>
              </a:rPr>
              <a:t>Hallucination-Free RAG</a:t>
            </a:r>
            <a:endParaRPr sz="900" b="1">
              <a:solidFill>
                <a:srgbClr val="1A3A6E"/>
              </a:solidFill>
            </a:endParaRP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FF6B35"/>
                </a:solidFill>
              </a:rPr>
              <a:t>&gt; </a:t>
            </a:r>
            <a:r>
              <a:rPr sz="900" b="1">
                <a:solidFill>
                  <a:srgbClr val="1A3A6E"/>
                </a:solidFill>
              </a:rPr>
              <a:t>Live Auto-Fetch</a:t>
            </a:r>
            <a:endParaRPr sz="900" b="1">
              <a:solidFill>
                <a:srgbClr val="1A3A6E"/>
              </a:solidFill>
            </a:endParaRP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FF6B35"/>
                </a:solidFill>
              </a:rPr>
              <a:t>&gt; </a:t>
            </a:r>
            <a:r>
              <a:rPr sz="900" b="1">
                <a:solidFill>
                  <a:srgbClr val="1A3A6E"/>
                </a:solidFill>
              </a:rPr>
              <a:t>BIS Office Finder</a:t>
            </a:r>
            <a:endParaRPr sz="900" b="1">
              <a:solidFill>
                <a:srgbClr val="1A3A6E"/>
              </a:solidFill>
            </a:endParaRP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FF6B35"/>
                </a:solidFill>
              </a:rPr>
              <a:t>&gt; </a:t>
            </a:r>
            <a:r>
              <a:rPr sz="900" b="1">
                <a:solidFill>
                  <a:srgbClr val="1A3A6E"/>
                </a:solidFill>
              </a:rPr>
              <a:t>Certification Guide</a:t>
            </a:r>
            <a:endParaRPr sz="900" b="1">
              <a:solidFill>
                <a:srgbClr val="1A3A6E"/>
              </a:solidFill>
            </a:endParaRP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FF6B35"/>
                </a:solidFill>
              </a:rPr>
              <a:t>&gt; </a:t>
            </a:r>
            <a:r>
              <a:rPr sz="900" b="1">
                <a:solidFill>
                  <a:srgbClr val="1A3A6E"/>
                </a:solidFill>
              </a:rPr>
              <a:t>Multi-User Auth (JWT)</a:t>
            </a:r>
            <a:endParaRPr sz="900" b="1">
              <a:solidFill>
                <a:srgbClr val="1A3A6E"/>
              </a:solidFill>
            </a:endParaRPr>
          </a:p>
          <a:p>
            <a:pPr>
              <a:spcAft>
                <a:spcPts val="200"/>
              </a:spcAft>
            </a:pPr>
            <a:r>
              <a:rPr sz="900" b="1">
                <a:solidFill>
                  <a:srgbClr val="FF6B35"/>
                </a:solidFill>
              </a:rPr>
              <a:t>&gt; </a:t>
            </a:r>
            <a:r>
              <a:rPr sz="900" b="1">
                <a:solidFill>
                  <a:srgbClr val="1A3A6E"/>
                </a:solidFill>
              </a:rPr>
              <a:t>Dark/Light Mode</a:t>
            </a:r>
            <a:endParaRPr sz="900" b="1">
              <a:solidFill>
                <a:srgbClr val="1A3A6E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14630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A3A6E"/>
                </a:solidFill>
              </a:rPr>
              <a:t>Resonant</a:t>
            </a:r>
            <a:endParaRPr sz="1800" b="1">
              <a:solidFill>
                <a:srgbClr val="1A3A6E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00400" y="109728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A3A6E"/>
                </a:solidFill>
              </a:rPr>
              <a:t>MANAKMITRA</a:t>
            </a:r>
            <a:endParaRPr sz="2800" b="1">
              <a:solidFill>
                <a:srgbClr val="1A3A6E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10972800" y="91440"/>
            <a:ext cx="594360" cy="5943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SIH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875520" y="109728"/>
            <a:ext cx="1005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A3A6E"/>
                </a:solidFill>
              </a:rPr>
              <a:t>SMART INDIA
HACKATHON 2026</a:t>
            </a:r>
            <a:endParaRPr sz="1000" b="1">
              <a:solidFill>
                <a:srgbClr val="1A3A6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@SIH Idea submission</a:t>
            </a:r>
            <a:endParaRPr sz="900">
              <a:solidFill>
                <a:srgbClr val="999999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0" y="65836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4</a:t>
            </a:r>
            <a:endParaRPr sz="900">
              <a:solidFill>
                <a:srgbClr val="999999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1005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A6E"/>
                </a:solidFill>
              </a:rPr>
              <a:t>Live Demo - Key Features</a:t>
            </a:r>
            <a:endParaRPr sz="1600" b="1">
              <a:solidFill>
                <a:srgbClr val="1A3A6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5760" y="1371600"/>
            <a:ext cx="54864" cy="5486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1371600"/>
            <a:ext cx="521208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42646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3A6E"/>
                </a:solidFill>
              </a:rPr>
              <a:t>Multilingual AI Chat</a:t>
            </a:r>
            <a:endParaRPr sz="1100" b="1">
              <a:solidFill>
                <a:srgbClr val="1A3A6E"/>
              </a:solidFill>
            </a:endParaRPr>
          </a:p>
          <a:p>
            <a:r>
              <a:rPr sz="950">
                <a:solidFill>
                  <a:srgbClr val="333333"/>
                </a:solidFill>
              </a:rPr>
              <a:t>Ask in Hindi, Telugu, Tamil, Bengali or 18 other Indian languages</a:t>
            </a:r>
            <a:endParaRPr sz="950">
              <a:solidFill>
                <a:srgbClr val="333333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5760" y="2011680"/>
            <a:ext cx="54864" cy="5486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2011680"/>
            <a:ext cx="521208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06654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3A6E"/>
                </a:solidFill>
              </a:rPr>
              <a:t>6-Section Response</a:t>
            </a:r>
            <a:endParaRPr sz="1100" b="1">
              <a:solidFill>
                <a:srgbClr val="1A3A6E"/>
              </a:solidFill>
            </a:endParaRPr>
          </a:p>
          <a:p>
            <a:r>
              <a:rPr sz="950">
                <a:solidFill>
                  <a:srgbClr val="333333"/>
                </a:solidFill>
              </a:rPr>
              <a:t>Standards, testing, offices, legal basis, QC, documents - every time</a:t>
            </a:r>
            <a:endParaRPr sz="950">
              <a:solidFill>
                <a:srgbClr val="333333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65760" y="2651760"/>
            <a:ext cx="54864" cy="5486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2651760"/>
            <a:ext cx="521208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70662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3A6E"/>
                </a:solidFill>
              </a:rPr>
              <a:t>Live Auto-Fetch</a:t>
            </a:r>
            <a:endParaRPr sz="1100" b="1">
              <a:solidFill>
                <a:srgbClr val="1A3A6E"/>
              </a:solidFill>
            </a:endParaRPr>
          </a:p>
          <a:p>
            <a:r>
              <a:rPr sz="950">
                <a:solidFill>
                  <a:srgbClr val="333333"/>
                </a:solidFill>
              </a:rPr>
              <a:t>Scrapes bis.gov.in for new standards and indexes automatically</a:t>
            </a:r>
            <a:endParaRPr sz="950">
              <a:solidFill>
                <a:srgbClr val="333333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65760" y="3291840"/>
            <a:ext cx="54864" cy="5486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3291840"/>
            <a:ext cx="521208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34670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3A6E"/>
                </a:solidFill>
              </a:rPr>
              <a:t>BIS Office Finder</a:t>
            </a:r>
            <a:endParaRPr sz="1100" b="1">
              <a:solidFill>
                <a:srgbClr val="1A3A6E"/>
              </a:solidFill>
            </a:endParaRPr>
          </a:p>
          <a:p>
            <a:r>
              <a:rPr sz="950">
                <a:solidFill>
                  <a:srgbClr val="333333"/>
                </a:solidFill>
              </a:rPr>
              <a:t>GPS-based nearest centre with directions and phone numbers</a:t>
            </a:r>
            <a:endParaRPr sz="950">
              <a:solidFill>
                <a:srgbClr val="333333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65760" y="3931920"/>
            <a:ext cx="54864" cy="5486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7200" y="3931920"/>
            <a:ext cx="521208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98678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3A6E"/>
                </a:solidFill>
              </a:rPr>
              <a:t>Certification Guide</a:t>
            </a:r>
            <a:endParaRPr sz="1100" b="1">
              <a:solidFill>
                <a:srgbClr val="1A3A6E"/>
              </a:solidFill>
            </a:endParaRPr>
          </a:p>
          <a:p>
            <a:r>
              <a:rPr sz="950">
                <a:solidFill>
                  <a:srgbClr val="333333"/>
                </a:solidFill>
              </a:rPr>
              <a:t>Step-by-step for ISI Mark, Hallmark, Eco Mark, CMVR, MSME Udyam</a:t>
            </a:r>
            <a:endParaRPr sz="950">
              <a:solidFill>
                <a:srgbClr val="333333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17920" y="1005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A6E"/>
                </a:solidFill>
              </a:rPr>
              <a:t>App Screenshots:</a:t>
            </a:r>
            <a:endParaRPr sz="1600" b="1">
              <a:solidFill>
                <a:srgbClr val="1A3A6E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217920" y="1417320"/>
            <a:ext cx="53035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1417320"/>
            <a:ext cx="5303520" cy="27432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  ManakMitra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686800" y="1874519"/>
            <a:ext cx="2743200" cy="274320"/>
          </a:xfrm>
          <a:prstGeom prst="round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800">
                <a:solidFill>
                  <a:srgbClr val="FFFFFF"/>
                </a:solidFill>
              </a:rPr>
              <a:t>What standards for cement?</a:t>
            </a:r>
            <a:endParaRPr sz="800">
              <a:solidFill>
                <a:srgbClr val="FFFFFF"/>
              </a:solidFill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400800" y="2286000"/>
            <a:ext cx="4937760" cy="256032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rtlCol="0" anchor="ctr"/>
          <a:lstStyle/>
          <a:p>
            <a:pPr algn="ctr"/>
            <a:r>
              <a:rPr sz="800" b="1">
                <a:solidFill>
                  <a:srgbClr val="333333"/>
                </a:solidFill>
              </a:rPr>
              <a:t>1. IS Standards: IS 269, IS 455, IS 8112</a:t>
            </a:r>
            <a:endParaRPr sz="800" b="1">
              <a:solidFill>
                <a:srgbClr val="333333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400800" y="2606040"/>
            <a:ext cx="4937760" cy="256032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rtlCol="0" anchor="ctr"/>
          <a:lstStyle/>
          <a:p>
            <a:pPr algn="ctr"/>
            <a:r>
              <a:rPr sz="800" b="1">
                <a:solidFill>
                  <a:srgbClr val="333333"/>
                </a:solidFill>
              </a:rPr>
              <a:t>2. Testing: Compressive strength per IS 4031</a:t>
            </a:r>
            <a:endParaRPr sz="800" b="1">
              <a:solidFill>
                <a:srgbClr val="333333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400800" y="2926080"/>
            <a:ext cx="4937760" cy="256032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rtlCol="0" anchor="ctr"/>
          <a:lstStyle/>
          <a:p>
            <a:pPr algn="ctr"/>
            <a:r>
              <a:rPr sz="800" b="1">
                <a:solidFill>
                  <a:srgbClr val="333333"/>
                </a:solidFill>
              </a:rPr>
              <a:t>3. Where to Test: BIS Lab Delhi 011-2323</a:t>
            </a:r>
            <a:endParaRPr sz="800" b="1">
              <a:solidFill>
                <a:srgbClr val="333333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400800" y="3246120"/>
            <a:ext cx="4937760" cy="256032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rtlCol="0" anchor="ctr"/>
          <a:lstStyle/>
          <a:p>
            <a:pPr algn="ctr"/>
            <a:r>
              <a:rPr sz="800" b="1">
                <a:solidFill>
                  <a:srgbClr val="333333"/>
                </a:solidFill>
              </a:rPr>
              <a:t>4. Mandatory: Yes, under BIS Act 2016</a:t>
            </a:r>
            <a:endParaRPr sz="800" b="1">
              <a:solidFill>
                <a:srgbClr val="333333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217920" y="393192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3931920"/>
            <a:ext cx="5303520" cy="27432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  BIS Standards Library - 28 Standards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400800" y="4343400"/>
            <a:ext cx="155448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tlCol="0" anchor="ctr"/>
          <a:lstStyle/>
          <a:p>
            <a:pPr algn="ctr"/>
            <a:r>
              <a:rPr sz="700" b="1">
                <a:solidFill>
                  <a:srgbClr val="FF6B35"/>
                </a:solidFill>
              </a:rPr>
              <a:t>CEMENT</a:t>
            </a:r>
            <a:endParaRPr sz="700" b="1">
              <a:solidFill>
                <a:srgbClr val="FF6B35"/>
              </a:solidFill>
            </a:endParaRPr>
          </a:p>
          <a:p>
            <a:r>
              <a:rPr sz="1100" b="1">
                <a:solidFill>
                  <a:srgbClr val="1A3A6E"/>
                </a:solidFill>
              </a:rPr>
              <a:t>IS 269</a:t>
            </a:r>
            <a:endParaRPr sz="1100" b="1">
              <a:solidFill>
                <a:srgbClr val="1A3A6E"/>
              </a:solidFill>
            </a:endParaRPr>
          </a:p>
          <a:p>
            <a:r>
              <a:rPr sz="800">
                <a:solidFill>
                  <a:srgbClr val="333333"/>
                </a:solidFill>
              </a:rPr>
              <a:t>OPC</a:t>
            </a:r>
            <a:endParaRPr sz="800">
              <a:solidFill>
                <a:srgbClr val="333333"/>
              </a:solidFill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8138160" y="4343400"/>
            <a:ext cx="155448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tlCol="0" anchor="ctr"/>
          <a:lstStyle/>
          <a:p>
            <a:pPr algn="ctr"/>
            <a:r>
              <a:rPr sz="700" b="1">
                <a:solidFill>
                  <a:srgbClr val="FF6B35"/>
                </a:solidFill>
              </a:rPr>
              <a:t>STEEL</a:t>
            </a:r>
            <a:endParaRPr sz="700" b="1">
              <a:solidFill>
                <a:srgbClr val="FF6B35"/>
              </a:solidFill>
            </a:endParaRPr>
          </a:p>
          <a:p>
            <a:r>
              <a:rPr sz="1100" b="1">
                <a:solidFill>
                  <a:srgbClr val="1A3A6E"/>
                </a:solidFill>
              </a:rPr>
              <a:t>IS 2062</a:t>
            </a:r>
            <a:endParaRPr sz="1100" b="1">
              <a:solidFill>
                <a:srgbClr val="1A3A6E"/>
              </a:solidFill>
            </a:endParaRPr>
          </a:p>
          <a:p>
            <a:r>
              <a:rPr sz="800">
                <a:solidFill>
                  <a:srgbClr val="333333"/>
                </a:solidFill>
              </a:rPr>
              <a:t>Structural</a:t>
            </a:r>
            <a:endParaRPr sz="800">
              <a:solidFill>
                <a:srgbClr val="333333"/>
              </a:solidFill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9875520" y="4343400"/>
            <a:ext cx="155448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tlCol="0" anchor="ctr"/>
          <a:lstStyle/>
          <a:p>
            <a:pPr algn="ctr"/>
            <a:r>
              <a:rPr sz="700" b="1">
                <a:solidFill>
                  <a:srgbClr val="FF6B35"/>
                </a:solidFill>
              </a:rPr>
              <a:t>ELECTRICAL</a:t>
            </a:r>
            <a:endParaRPr sz="700" b="1">
              <a:solidFill>
                <a:srgbClr val="FF6B35"/>
              </a:solidFill>
            </a:endParaRPr>
          </a:p>
          <a:p>
            <a:r>
              <a:rPr sz="1100" b="1">
                <a:solidFill>
                  <a:srgbClr val="1A3A6E"/>
                </a:solidFill>
              </a:rPr>
              <a:t>IS 302</a:t>
            </a:r>
            <a:endParaRPr sz="1100" b="1">
              <a:solidFill>
                <a:srgbClr val="1A3A6E"/>
              </a:solidFill>
            </a:endParaRPr>
          </a:p>
          <a:p>
            <a:r>
              <a:rPr sz="800">
                <a:solidFill>
                  <a:srgbClr val="333333"/>
                </a:solidFill>
              </a:rPr>
              <a:t>Appliances</a:t>
            </a:r>
            <a:endParaRPr sz="800">
              <a:solidFill>
                <a:srgbClr val="333333"/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400800" y="5257800"/>
            <a:ext cx="155448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tlCol="0" anchor="ctr"/>
          <a:lstStyle/>
          <a:p>
            <a:pPr algn="ctr"/>
            <a:r>
              <a:rPr sz="700" b="1">
                <a:solidFill>
                  <a:srgbClr val="FF6B35"/>
                </a:solidFill>
              </a:rPr>
              <a:t>FOOD</a:t>
            </a:r>
            <a:endParaRPr sz="700" b="1">
              <a:solidFill>
                <a:srgbClr val="FF6B35"/>
              </a:solidFill>
            </a:endParaRPr>
          </a:p>
          <a:p>
            <a:r>
              <a:rPr sz="1100" b="1">
                <a:solidFill>
                  <a:srgbClr val="1A3A6E"/>
                </a:solidFill>
              </a:rPr>
              <a:t>IS 14543</a:t>
            </a:r>
            <a:endParaRPr sz="1100" b="1">
              <a:solidFill>
                <a:srgbClr val="1A3A6E"/>
              </a:solidFill>
            </a:endParaRPr>
          </a:p>
          <a:p>
            <a:r>
              <a:rPr sz="800">
                <a:solidFill>
                  <a:srgbClr val="333333"/>
                </a:solidFill>
              </a:rPr>
              <a:t>Water</a:t>
            </a:r>
            <a:endParaRPr sz="800">
              <a:solidFill>
                <a:srgbClr val="333333"/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8138160" y="5257800"/>
            <a:ext cx="155448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tlCol="0" anchor="ctr"/>
          <a:lstStyle/>
          <a:p>
            <a:pPr algn="ctr"/>
            <a:r>
              <a:rPr sz="700" b="1">
                <a:solidFill>
                  <a:srgbClr val="FF6B35"/>
                </a:solidFill>
              </a:rPr>
              <a:t>ELECTRICAL</a:t>
            </a:r>
            <a:endParaRPr sz="700" b="1">
              <a:solidFill>
                <a:srgbClr val="FF6B35"/>
              </a:solidFill>
            </a:endParaRPr>
          </a:p>
          <a:p>
            <a:r>
              <a:rPr sz="1100" b="1">
                <a:solidFill>
                  <a:srgbClr val="1A3A6E"/>
                </a:solidFill>
              </a:rPr>
              <a:t>IS 15556</a:t>
            </a:r>
            <a:endParaRPr sz="1100" b="1">
              <a:solidFill>
                <a:srgbClr val="1A3A6E"/>
              </a:solidFill>
            </a:endParaRPr>
          </a:p>
          <a:p>
            <a:r>
              <a:rPr sz="800">
                <a:solidFill>
                  <a:srgbClr val="333333"/>
                </a:solidFill>
              </a:rPr>
              <a:t>LED</a:t>
            </a:r>
            <a:endParaRPr sz="800">
              <a:solidFill>
                <a:srgbClr val="333333"/>
              </a:solidFill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9875520" y="5257800"/>
            <a:ext cx="155448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tlCol="0" anchor="ctr"/>
          <a:lstStyle/>
          <a:p>
            <a:pPr algn="ctr"/>
            <a:r>
              <a:rPr sz="700" b="1">
                <a:solidFill>
                  <a:srgbClr val="FF6B35"/>
                </a:solidFill>
              </a:rPr>
              <a:t>LEATHER</a:t>
            </a:r>
            <a:endParaRPr sz="700" b="1">
              <a:solidFill>
                <a:srgbClr val="FF6B35"/>
              </a:solidFill>
            </a:endParaRPr>
          </a:p>
          <a:p>
            <a:r>
              <a:rPr sz="1100" b="1">
                <a:solidFill>
                  <a:srgbClr val="1A3A6E"/>
                </a:solidFill>
              </a:rPr>
              <a:t>IS 3289</a:t>
            </a:r>
            <a:endParaRPr sz="1100" b="1">
              <a:solidFill>
                <a:srgbClr val="1A3A6E"/>
              </a:solidFill>
            </a:endParaRPr>
          </a:p>
          <a:p>
            <a:r>
              <a:rPr sz="800">
                <a:solidFill>
                  <a:srgbClr val="333333"/>
                </a:solidFill>
              </a:rPr>
              <a:t>Finished</a:t>
            </a:r>
            <a:endParaRPr sz="80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14630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A3A6E"/>
                </a:solidFill>
              </a:rPr>
              <a:t>Resonant</a:t>
            </a:r>
            <a:endParaRPr sz="1800" b="1">
              <a:solidFill>
                <a:srgbClr val="1A3A6E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00400" y="109728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A3A6E"/>
                </a:solidFill>
              </a:rPr>
              <a:t>MANAKMITRA</a:t>
            </a:r>
            <a:endParaRPr sz="2800" b="1">
              <a:solidFill>
                <a:srgbClr val="1A3A6E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10972800" y="91440"/>
            <a:ext cx="594360" cy="5943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SIH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875520" y="109728"/>
            <a:ext cx="1005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A3A6E"/>
                </a:solidFill>
              </a:rPr>
              <a:t>SMART INDIA
HACKATHON 2026</a:t>
            </a:r>
            <a:endParaRPr sz="1000" b="1">
              <a:solidFill>
                <a:srgbClr val="1A3A6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@SIH Idea submission</a:t>
            </a:r>
            <a:endParaRPr sz="900">
              <a:solidFill>
                <a:srgbClr val="999999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0" y="65836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5</a:t>
            </a:r>
            <a:endParaRPr sz="900">
              <a:solidFill>
                <a:srgbClr val="999999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00400" y="9144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3A6E"/>
                </a:solidFill>
              </a:rPr>
              <a:t>FEASIBILITY AND VIABILITY</a:t>
            </a:r>
            <a:endParaRPr sz="2200" b="1">
              <a:solidFill>
                <a:srgbClr val="1A3A6E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565C0"/>
                </a:solidFill>
              </a:rPr>
              <a:t>Feasibility</a:t>
            </a:r>
            <a:endParaRPr sz="1800" b="1">
              <a:solidFill>
                <a:srgbClr val="1565C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178308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FF6B35"/>
                </a:solidFill>
              </a:rPr>
              <a:t>&gt; </a:t>
            </a:r>
            <a:r>
              <a:rPr sz="1200" b="1">
                <a:solidFill>
                  <a:srgbClr val="1A3A6E"/>
                </a:solidFill>
              </a:rPr>
              <a:t>Technical:</a:t>
            </a:r>
            <a:r>
              <a:rPr sz="1200">
                <a:solidFill>
                  <a:srgbClr val="333333"/>
                </a:solidFill>
              </a:rPr>
              <a:t> Proven tech stack - React, FastAPI, ONNX, FAISS, Gemini API. Quick to build and deploy MVP.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35"/>
                </a:solidFill>
              </a:rPr>
              <a:t>&gt; </a:t>
            </a:r>
            <a:r>
              <a:rPr sz="1200" b="1">
                <a:solidFill>
                  <a:srgbClr val="1A3A6E"/>
                </a:solidFill>
              </a:rPr>
              <a:t>Data:</a:t>
            </a:r>
            <a:r>
              <a:rPr sz="1200">
                <a:solidFill>
                  <a:srgbClr val="333333"/>
                </a:solidFill>
              </a:rPr>
              <a:t> BIS standards publicly available on bis.gov.in. 28 standards indexed, expandable to 28,000+.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35"/>
                </a:solidFill>
              </a:rPr>
              <a:t>&gt; </a:t>
            </a:r>
            <a:r>
              <a:rPr sz="1200" b="1">
                <a:solidFill>
                  <a:srgbClr val="1A3A6E"/>
                </a:solidFill>
              </a:rPr>
              <a:t>Economic:</a:t>
            </a:r>
            <a:r>
              <a:rPr sz="1200">
                <a:solidFill>
                  <a:srgbClr val="333333"/>
                </a:solidFill>
              </a:rPr>
              <a:t> Open-source tools, free cloud tiers (Render + Vercel), zero upfront cost.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35"/>
                </a:solidFill>
              </a:rPr>
              <a:t>&gt; </a:t>
            </a:r>
            <a:r>
              <a:rPr sz="1200" b="1">
                <a:solidFill>
                  <a:srgbClr val="1A3A6E"/>
                </a:solidFill>
              </a:rPr>
              <a:t>Multilingual:</a:t>
            </a:r>
            <a:r>
              <a:rPr sz="1200">
                <a:solidFill>
                  <a:srgbClr val="333333"/>
                </a:solidFill>
              </a:rPr>
              <a:t> deep-translator supports 22 Indian languages. Auto-detect, translate, process, translate back.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35"/>
                </a:solidFill>
              </a:rPr>
              <a:t>&gt; </a:t>
            </a:r>
            <a:r>
              <a:rPr sz="1200" b="1">
                <a:solidFill>
                  <a:srgbClr val="1A3A6E"/>
                </a:solidFill>
              </a:rPr>
              <a:t>User-Friendly:</a:t>
            </a:r>
            <a:r>
              <a:rPr sz="1200">
                <a:solidFill>
                  <a:srgbClr val="333333"/>
                </a:solidFill>
              </a:rPr>
              <a:t> ChatGPT-like interface - no training needed. MSMEs can ask in their own language.</a:t>
            </a:r>
            <a:endParaRPr sz="1200">
              <a:solidFill>
                <a:srgbClr val="333333"/>
              </a:solidFill>
            </a:endParaRP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35"/>
                </a:solidFill>
              </a:rPr>
              <a:t>&gt; </a:t>
            </a:r>
            <a:r>
              <a:rPr sz="1200" b="1">
                <a:solidFill>
                  <a:srgbClr val="1A3A6E"/>
                </a:solidFill>
              </a:rPr>
              <a:t>Scalability:</a:t>
            </a:r>
            <a:r>
              <a:rPr sz="1200">
                <a:solidFill>
                  <a:srgbClr val="333333"/>
                </a:solidFill>
              </a:rPr>
              <a:t> Modular RAG architecture. Adding new standards = adding new PDF files. No code changes.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" y="4389120"/>
            <a:ext cx="530352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4805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D32"/>
                </a:solidFill>
              </a:rPr>
              <a:t>Viability</a:t>
            </a:r>
            <a:endParaRPr sz="1800" b="1">
              <a:solidFill>
                <a:srgbClr val="2E7D3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50545" y="5234305"/>
            <a:ext cx="530352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FF6B35"/>
                </a:solidFill>
              </a:rPr>
              <a:t>&gt; </a:t>
            </a:r>
            <a:r>
              <a:rPr lang="en-US" sz="1100" b="1">
                <a:solidFill>
                  <a:srgbClr val="FF6B35"/>
                </a:solidFill>
              </a:rPr>
              <a:t>Live Prototype</a:t>
            </a:r>
            <a:r>
              <a:rPr sz="1200" b="1">
                <a:solidFill>
                  <a:srgbClr val="1A3A6E"/>
                </a:solidFill>
              </a:rPr>
              <a:t>:</a:t>
            </a:r>
            <a:r>
              <a:rPr lang="en-US" sz="1200" b="1">
                <a:solidFill>
                  <a:srgbClr val="1A3A6E"/>
                </a:solidFill>
              </a:rPr>
              <a:t> </a:t>
            </a:r>
            <a:r>
              <a:rPr lang="en-US" altLang="en-US" sz="1200" b="1">
                <a:solidFill>
                  <a:srgbClr val="1A3A6E"/>
                </a:solidFill>
              </a:rPr>
              <a:t>https://sih2026-bis-assistant-ebon.vercel.app/</a:t>
            </a:r>
            <a:endParaRPr lang="en-US" altLang="en-US" sz="1200" b="1">
              <a:solidFill>
                <a:srgbClr val="1A3A6E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943600" y="1371600"/>
            <a:ext cx="27432" cy="50292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1371600"/>
            <a:ext cx="5486400" cy="2560320"/>
          </a:xfrm>
          <a:prstGeom prst="roundRect">
            <a:avLst/>
          </a:prstGeom>
          <a:noFill/>
          <a:ln w="2540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1463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A3A6E"/>
                </a:solidFill>
              </a:rPr>
              <a:t>Use Cases</a:t>
            </a:r>
            <a:endParaRPr sz="1800" b="1">
              <a:solidFill>
                <a:srgbClr val="1A3A6E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6446520" y="1920240"/>
            <a:ext cx="548640" cy="54864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/>
              <a:t>🏭</a:t>
            </a:r>
            <a:endParaRPr sz="1600"/>
          </a:p>
        </p:txBody>
      </p:sp>
      <p:sp>
        <p:nvSpPr>
          <p:cNvPr id="20" name="TextBox 19"/>
          <p:cNvSpPr txBox="1"/>
          <p:nvPr/>
        </p:nvSpPr>
        <p:spPr>
          <a:xfrm>
            <a:off x="6309360" y="251460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A3A6E"/>
                </a:solidFill>
              </a:rPr>
              <a:t>MSME Owner</a:t>
            </a:r>
            <a:endParaRPr sz="800" b="1">
              <a:solidFill>
                <a:srgbClr val="1A3A6E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09360" y="27432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333333"/>
                </a:solidFill>
              </a:rPr>
              <a:t>Quick standards check
Certification guidance</a:t>
            </a:r>
            <a:endParaRPr sz="700">
              <a:solidFill>
                <a:srgbClr val="333333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7525512" y="1920240"/>
            <a:ext cx="548640" cy="54864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/>
              <a:t>🔬</a:t>
            </a:r>
            <a:endParaRPr sz="1600"/>
          </a:p>
        </p:txBody>
      </p:sp>
      <p:sp>
        <p:nvSpPr>
          <p:cNvPr id="23" name="TextBox 22"/>
          <p:cNvSpPr txBox="1"/>
          <p:nvPr/>
        </p:nvSpPr>
        <p:spPr>
          <a:xfrm>
            <a:off x="7388352" y="251460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A3A6E"/>
                </a:solidFill>
              </a:rPr>
              <a:t>Manufacturer</a:t>
            </a:r>
            <a:endParaRPr sz="800" b="1">
              <a:solidFill>
                <a:srgbClr val="1A3A6E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88352" y="27432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333333"/>
                </a:solidFill>
              </a:rPr>
              <a:t>Test requirements
Lab locations</a:t>
            </a:r>
            <a:endParaRPr sz="700">
              <a:solidFill>
                <a:srgbClr val="333333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8604504" y="1920240"/>
            <a:ext cx="548640" cy="54864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/>
              <a:t>👩‍💼</a:t>
            </a:r>
            <a:endParaRPr sz="1600"/>
          </a:p>
        </p:txBody>
      </p:sp>
      <p:sp>
        <p:nvSpPr>
          <p:cNvPr id="26" name="TextBox 25"/>
          <p:cNvSpPr txBox="1"/>
          <p:nvPr/>
        </p:nvSpPr>
        <p:spPr>
          <a:xfrm>
            <a:off x="8467344" y="251460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A3A6E"/>
                </a:solidFill>
              </a:rPr>
              <a:t>Quality Manager</a:t>
            </a:r>
            <a:endParaRPr sz="800" b="1">
              <a:solidFill>
                <a:srgbClr val="1A3A6E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467344" y="27432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333333"/>
                </a:solidFill>
              </a:rPr>
              <a:t>Standards updates
Compliance tracking</a:t>
            </a:r>
            <a:endParaRPr sz="700">
              <a:solidFill>
                <a:srgbClr val="333333"/>
              </a:solidFill>
            </a:endParaRPr>
          </a:p>
        </p:txBody>
      </p:sp>
      <p:sp>
        <p:nvSpPr>
          <p:cNvPr id="28" name="Oval 27"/>
          <p:cNvSpPr/>
          <p:nvPr/>
        </p:nvSpPr>
        <p:spPr>
          <a:xfrm>
            <a:off x="9683496" y="1920240"/>
            <a:ext cx="548640" cy="54864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/>
              <a:t>🏛️</a:t>
            </a:r>
            <a:endParaRPr sz="1600"/>
          </a:p>
        </p:txBody>
      </p:sp>
      <p:sp>
        <p:nvSpPr>
          <p:cNvPr id="29" name="TextBox 28"/>
          <p:cNvSpPr txBox="1"/>
          <p:nvPr/>
        </p:nvSpPr>
        <p:spPr>
          <a:xfrm>
            <a:off x="9546336" y="251460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A3A6E"/>
                </a:solidFill>
              </a:rPr>
              <a:t>Government</a:t>
            </a:r>
            <a:endParaRPr sz="800" b="1">
              <a:solidFill>
                <a:srgbClr val="1A3A6E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546336" y="27432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333333"/>
                </a:solidFill>
              </a:rPr>
              <a:t>BIS compliance awareness
Policy-aligned guidance</a:t>
            </a:r>
            <a:endParaRPr sz="700">
              <a:solidFill>
                <a:srgbClr val="333333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762488" y="1920240"/>
            <a:ext cx="548640" cy="54864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/>
              <a:t>🧪</a:t>
            </a:r>
            <a:endParaRPr sz="1600"/>
          </a:p>
        </p:txBody>
      </p:sp>
      <p:sp>
        <p:nvSpPr>
          <p:cNvPr id="32" name="TextBox 31"/>
          <p:cNvSpPr txBox="1"/>
          <p:nvPr/>
        </p:nvSpPr>
        <p:spPr>
          <a:xfrm>
            <a:off x="10625328" y="251460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A3A6E"/>
                </a:solidFill>
              </a:rPr>
              <a:t>Testing Labs</a:t>
            </a:r>
            <a:endParaRPr sz="800" b="1">
              <a:solidFill>
                <a:srgbClr val="1A3A6E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625328" y="27432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333333"/>
                </a:solidFill>
              </a:rPr>
              <a:t>Reference standards
Client guidance</a:t>
            </a:r>
            <a:endParaRPr sz="700">
              <a:solidFill>
                <a:srgbClr val="333333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217920" y="4114800"/>
            <a:ext cx="5486400" cy="2286000"/>
          </a:xfrm>
          <a:prstGeom prst="roundRect">
            <a:avLst/>
          </a:prstGeom>
          <a:noFill/>
          <a:ln w="254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0" y="42062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A6E"/>
                </a:solidFill>
              </a:rPr>
              <a:t>Challenges &amp; Mitigations</a:t>
            </a:r>
            <a:endParaRPr sz="1600" b="1">
              <a:solidFill>
                <a:srgbClr val="1A3A6E"/>
              </a:solidFill>
            </a:endParaRPr>
          </a:p>
        </p:txBody>
      </p:sp>
      <p:sp>
        <p:nvSpPr>
          <p:cNvPr id="36" name="Oval 35"/>
          <p:cNvSpPr/>
          <p:nvPr/>
        </p:nvSpPr>
        <p:spPr>
          <a:xfrm>
            <a:off x="6446520" y="4663440"/>
            <a:ext cx="457200" cy="457200"/>
          </a:xfrm>
          <a:prstGeom prst="ellipse">
            <a:avLst/>
          </a:prstGeom>
          <a:solidFill>
            <a:srgbClr val="F3E5F5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/>
              <a:t>🔒</a:t>
            </a:r>
            <a:endParaRPr sz="1400"/>
          </a:p>
        </p:txBody>
      </p:sp>
      <p:sp>
        <p:nvSpPr>
          <p:cNvPr id="37" name="TextBox 36"/>
          <p:cNvSpPr txBox="1"/>
          <p:nvPr/>
        </p:nvSpPr>
        <p:spPr>
          <a:xfrm>
            <a:off x="6309360" y="516636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A3A6E"/>
                </a:solidFill>
              </a:rPr>
              <a:t>Data Security</a:t>
            </a:r>
            <a:endParaRPr sz="800" b="1">
              <a:solidFill>
                <a:srgbClr val="1A3A6E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309360" y="53949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333333"/>
                </a:solidFill>
              </a:rPr>
              <a:t>JWT auth + bcrypt
No PII stored server-side</a:t>
            </a:r>
            <a:endParaRPr sz="700">
              <a:solidFill>
                <a:srgbClr val="333333"/>
              </a:solidFill>
            </a:endParaRPr>
          </a:p>
        </p:txBody>
      </p:sp>
      <p:sp>
        <p:nvSpPr>
          <p:cNvPr id="39" name="Oval 38"/>
          <p:cNvSpPr/>
          <p:nvPr/>
        </p:nvSpPr>
        <p:spPr>
          <a:xfrm>
            <a:off x="7525512" y="4663440"/>
            <a:ext cx="457200" cy="457200"/>
          </a:xfrm>
          <a:prstGeom prst="ellipse">
            <a:avLst/>
          </a:prstGeom>
          <a:solidFill>
            <a:srgbClr val="F3E5F5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/>
              <a:t>📈</a:t>
            </a:r>
            <a:endParaRPr sz="1400"/>
          </a:p>
        </p:txBody>
      </p:sp>
      <p:sp>
        <p:nvSpPr>
          <p:cNvPr id="40" name="TextBox 39"/>
          <p:cNvSpPr txBox="1"/>
          <p:nvPr/>
        </p:nvSpPr>
        <p:spPr>
          <a:xfrm>
            <a:off x="7388352" y="516636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A3A6E"/>
                </a:solidFill>
              </a:rPr>
              <a:t>User Adoption</a:t>
            </a:r>
            <a:endParaRPr sz="800" b="1">
              <a:solidFill>
                <a:srgbClr val="1A3A6E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388352" y="53949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333333"/>
                </a:solidFill>
              </a:rPr>
              <a:t>WhatsApp-like UI
No training needed</a:t>
            </a:r>
            <a:endParaRPr sz="700">
              <a:solidFill>
                <a:srgbClr val="333333"/>
              </a:solidFill>
            </a:endParaRPr>
          </a:p>
        </p:txBody>
      </p:sp>
      <p:sp>
        <p:nvSpPr>
          <p:cNvPr id="42" name="Oval 41"/>
          <p:cNvSpPr/>
          <p:nvPr/>
        </p:nvSpPr>
        <p:spPr>
          <a:xfrm>
            <a:off x="8604504" y="4663440"/>
            <a:ext cx="457200" cy="457200"/>
          </a:xfrm>
          <a:prstGeom prst="ellipse">
            <a:avLst/>
          </a:prstGeom>
          <a:solidFill>
            <a:srgbClr val="F3E5F5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/>
              <a:t>🌐</a:t>
            </a:r>
            <a:endParaRPr sz="1400"/>
          </a:p>
        </p:txBody>
      </p:sp>
      <p:sp>
        <p:nvSpPr>
          <p:cNvPr id="43" name="TextBox 42"/>
          <p:cNvSpPr txBox="1"/>
          <p:nvPr/>
        </p:nvSpPr>
        <p:spPr>
          <a:xfrm>
            <a:off x="8467344" y="516636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A3A6E"/>
                </a:solidFill>
              </a:rPr>
              <a:t>Scalability</a:t>
            </a:r>
            <a:endParaRPr sz="800" b="1">
              <a:solidFill>
                <a:srgbClr val="1A3A6E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467344" y="53949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333333"/>
                </a:solidFill>
              </a:rPr>
              <a:t>Modular RAG design
Add standards = add PDFs</a:t>
            </a:r>
            <a:endParaRPr sz="700">
              <a:solidFill>
                <a:srgbClr val="333333"/>
              </a:solidFill>
            </a:endParaRPr>
          </a:p>
        </p:txBody>
      </p:sp>
      <p:sp>
        <p:nvSpPr>
          <p:cNvPr id="45" name="Oval 44"/>
          <p:cNvSpPr/>
          <p:nvPr/>
        </p:nvSpPr>
        <p:spPr>
          <a:xfrm>
            <a:off x="9683496" y="4663440"/>
            <a:ext cx="457200" cy="457200"/>
          </a:xfrm>
          <a:prstGeom prst="ellipse">
            <a:avLst/>
          </a:prstGeom>
          <a:solidFill>
            <a:srgbClr val="F3E5F5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/>
              <a:t>🗣️</a:t>
            </a:r>
            <a:endParaRPr sz="1400"/>
          </a:p>
        </p:txBody>
      </p:sp>
      <p:sp>
        <p:nvSpPr>
          <p:cNvPr id="46" name="TextBox 45"/>
          <p:cNvSpPr txBox="1"/>
          <p:nvPr/>
        </p:nvSpPr>
        <p:spPr>
          <a:xfrm>
            <a:off x="9546336" y="516636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A3A6E"/>
                </a:solidFill>
              </a:rPr>
              <a:t>Language Accuracy</a:t>
            </a:r>
            <a:endParaRPr sz="800" b="1">
              <a:solidFill>
                <a:srgbClr val="1A3A6E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546336" y="53949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333333"/>
                </a:solidFill>
              </a:rPr>
              <a:t>Auto-detect + translate
22 Indian languages</a:t>
            </a:r>
            <a:endParaRPr sz="700">
              <a:solidFill>
                <a:srgbClr val="333333"/>
              </a:solidFill>
            </a:endParaRPr>
          </a:p>
        </p:txBody>
      </p:sp>
      <p:sp>
        <p:nvSpPr>
          <p:cNvPr id="48" name="Oval 47"/>
          <p:cNvSpPr/>
          <p:nvPr/>
        </p:nvSpPr>
        <p:spPr>
          <a:xfrm>
            <a:off x="10762488" y="4663440"/>
            <a:ext cx="457200" cy="457200"/>
          </a:xfrm>
          <a:prstGeom prst="ellipse">
            <a:avLst/>
          </a:prstGeom>
          <a:solidFill>
            <a:srgbClr val="F3E5F5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/>
              <a:t>🔄</a:t>
            </a:r>
            <a:endParaRPr sz="1400"/>
          </a:p>
        </p:txBody>
      </p:sp>
      <p:sp>
        <p:nvSpPr>
          <p:cNvPr id="49" name="TextBox 48"/>
          <p:cNvSpPr txBox="1"/>
          <p:nvPr/>
        </p:nvSpPr>
        <p:spPr>
          <a:xfrm>
            <a:off x="10625328" y="516636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A3A6E"/>
                </a:solidFill>
              </a:rPr>
              <a:t>Data Freshness</a:t>
            </a:r>
            <a:endParaRPr sz="800" b="1">
              <a:solidFill>
                <a:srgbClr val="1A3A6E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0625328" y="53949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333333"/>
                </a:solidFill>
              </a:rPr>
              <a:t>Live auto-fetch pipeline
Scrapes bis.gov.in</a:t>
            </a:r>
            <a:endParaRPr sz="70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09728"/>
            <a:ext cx="14630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A3A6E"/>
                </a:solidFill>
              </a:rPr>
              <a:t>Resonant</a:t>
            </a:r>
            <a:endParaRPr sz="1800" b="1">
              <a:solidFill>
                <a:srgbClr val="1A3A6E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00400" y="109728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A3A6E"/>
                </a:solidFill>
              </a:rPr>
              <a:t>MANAKMITRA</a:t>
            </a:r>
            <a:endParaRPr sz="2800" b="1">
              <a:solidFill>
                <a:srgbClr val="1A3A6E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10972800" y="91440"/>
            <a:ext cx="594360" cy="5943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SIH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875520" y="109728"/>
            <a:ext cx="1005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A3A6E"/>
                </a:solidFill>
              </a:rPr>
              <a:t>SMART INDIA
HACKATHON 2026</a:t>
            </a:r>
            <a:endParaRPr sz="1000" b="1">
              <a:solidFill>
                <a:srgbClr val="1A3A6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</a:rPr>
              <a:t>@SIH Idea submission</a:t>
            </a:r>
            <a:endParaRPr sz="900">
              <a:solidFill>
                <a:srgbClr val="999999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0" y="65836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99999"/>
                </a:solidFill>
              </a:rPr>
              <a:t>5</a:t>
            </a:r>
            <a:endParaRPr sz="900">
              <a:solidFill>
                <a:srgbClr val="999999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1005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A6E"/>
                </a:solidFill>
              </a:rPr>
              <a:t>Impact &amp; Target Users</a:t>
            </a:r>
            <a:endParaRPr sz="1600" b="1">
              <a:solidFill>
                <a:srgbClr val="1A3A6E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65760" y="1417320"/>
            <a:ext cx="1737360" cy="822960"/>
          </a:xfrm>
          <a:prstGeom prst="round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6B35"/>
                </a:solidFill>
              </a:rPr>
              <a:t>63M+</a:t>
            </a:r>
            <a:endParaRPr sz="2400" b="1">
              <a:solidFill>
                <a:srgbClr val="FF6B35"/>
              </a:solidFill>
            </a:endParaRPr>
          </a:p>
          <a:p>
            <a:pPr algn="ctr"/>
            <a:r>
              <a:rPr sz="900">
                <a:solidFill>
                  <a:srgbClr val="CCCCCC"/>
                </a:solidFill>
              </a:rPr>
              <a:t>MSMEs in India</a:t>
            </a:r>
            <a:endParaRPr sz="900">
              <a:solidFill>
                <a:srgbClr val="CCCCCC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286000" y="1417320"/>
            <a:ext cx="1737360" cy="822960"/>
          </a:xfrm>
          <a:prstGeom prst="round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6B35"/>
                </a:solidFill>
              </a:rPr>
              <a:t>28K+</a:t>
            </a:r>
            <a:endParaRPr sz="2400" b="1">
              <a:solidFill>
                <a:srgbClr val="FF6B35"/>
              </a:solidFill>
            </a:endParaRPr>
          </a:p>
          <a:p>
            <a:pPr algn="ctr"/>
            <a:r>
              <a:rPr sz="900">
                <a:solidFill>
                  <a:srgbClr val="CCCCCC"/>
                </a:solidFill>
              </a:rPr>
              <a:t>BIS Standards</a:t>
            </a:r>
            <a:endParaRPr sz="900">
              <a:solidFill>
                <a:srgbClr val="CCCCCC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206240" y="1417320"/>
            <a:ext cx="1737360" cy="822960"/>
          </a:xfrm>
          <a:prstGeom prst="round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6B35"/>
                </a:solidFill>
              </a:rPr>
              <a:t>2.5L Cr</a:t>
            </a:r>
            <a:endParaRPr sz="2400" b="1">
              <a:solidFill>
                <a:srgbClr val="FF6B35"/>
              </a:solidFill>
            </a:endParaRPr>
          </a:p>
          <a:p>
            <a:pPr algn="ctr"/>
            <a:r>
              <a:rPr sz="900">
                <a:solidFill>
                  <a:srgbClr val="CCCCCC"/>
                </a:solidFill>
              </a:rPr>
              <a:t>Compliance Market</a:t>
            </a:r>
            <a:endParaRPr sz="900">
              <a:solidFill>
                <a:srgbClr val="CCCCCC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5760" y="2377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3A6E"/>
                </a:solidFill>
              </a:rPr>
              <a:t>Who Benefits?</a:t>
            </a:r>
            <a:endParaRPr sz="1300" b="1">
              <a:solidFill>
                <a:srgbClr val="1A3A6E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65760" y="2697480"/>
            <a:ext cx="2560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788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3A6E"/>
                </a:solidFill>
              </a:rPr>
              <a:t>MSMEs &amp; Manufacturers</a:t>
            </a:r>
            <a:endParaRPr sz="1000" b="1">
              <a:solidFill>
                <a:srgbClr val="1A3A6E"/>
              </a:solidFill>
            </a:endParaRPr>
          </a:p>
          <a:p>
            <a:r>
              <a:rPr sz="900">
                <a:solidFill>
                  <a:srgbClr val="333333"/>
                </a:solidFill>
              </a:rPr>
              <a:t>Quick standards + cert answers</a:t>
            </a:r>
            <a:endParaRPr sz="900">
              <a:solidFill>
                <a:srgbClr val="333333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108960" y="2697480"/>
            <a:ext cx="2560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2788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3A6E"/>
                </a:solidFill>
              </a:rPr>
              <a:t>Construction Companies</a:t>
            </a:r>
            <a:endParaRPr sz="1000" b="1">
              <a:solidFill>
                <a:srgbClr val="1A3A6E"/>
              </a:solidFill>
            </a:endParaRPr>
          </a:p>
          <a:p>
            <a:r>
              <a:rPr sz="900">
                <a:solidFill>
                  <a:srgbClr val="333333"/>
                </a:solidFill>
              </a:rPr>
              <a:t>Steel, cement compliance</a:t>
            </a:r>
            <a:endParaRPr sz="900">
              <a:solidFill>
                <a:srgbClr val="333333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65760" y="3520440"/>
            <a:ext cx="2560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611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3A6E"/>
                </a:solidFill>
              </a:rPr>
              <a:t>Testing Labs</a:t>
            </a:r>
            <a:endParaRPr sz="1000" b="1">
              <a:solidFill>
                <a:srgbClr val="1A3A6E"/>
              </a:solidFill>
            </a:endParaRPr>
          </a:p>
          <a:p>
            <a:r>
              <a:rPr sz="900">
                <a:solidFill>
                  <a:srgbClr val="333333"/>
                </a:solidFill>
              </a:rPr>
              <a:t>Reference standards</a:t>
            </a:r>
            <a:endParaRPr sz="900">
              <a:solidFill>
                <a:srgbClr val="333333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108960" y="3520440"/>
            <a:ext cx="2560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3611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3A6E"/>
                </a:solidFill>
              </a:rPr>
              <a:t>Quality Managers</a:t>
            </a:r>
            <a:endParaRPr sz="1000" b="1">
              <a:solidFill>
                <a:srgbClr val="1A3A6E"/>
              </a:solidFill>
            </a:endParaRPr>
          </a:p>
          <a:p>
            <a:r>
              <a:rPr sz="900">
                <a:solidFill>
                  <a:srgbClr val="333333"/>
                </a:solidFill>
              </a:rPr>
              <a:t>Stay updated via auto-fetch</a:t>
            </a:r>
            <a:endParaRPr sz="900">
              <a:solidFill>
                <a:srgbClr val="333333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0" y="1005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A6E"/>
                </a:solidFill>
              </a:rPr>
              <a:t>Development Roadmap</a:t>
            </a:r>
            <a:endParaRPr sz="1600" b="1">
              <a:solidFill>
                <a:srgbClr val="1A3A6E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400800" y="1417320"/>
            <a:ext cx="822960" cy="2743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DONE</a:t>
            </a:r>
            <a:endParaRPr sz="800" b="1">
              <a:solidFill>
                <a:srgbClr val="FFFF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315200" y="14173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</a:rPr>
              <a:t>MVP - 28 standards, 22 languages, RAG, auth</a:t>
            </a:r>
            <a:endParaRPr sz="1000">
              <a:solidFill>
                <a:srgbClr val="333333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400800" y="2148840"/>
            <a:ext cx="822960" cy="27432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NOW</a:t>
            </a:r>
            <a:endParaRPr sz="800" b="1">
              <a:solidFill>
                <a:srgbClr val="FFFFFF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315200" y="21488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</a:rPr>
              <a:t>Scale - All 28,000+ standards, PDF viewer, WhatsApp bot</a:t>
            </a:r>
            <a:endParaRPr sz="1000">
              <a:solidFill>
                <a:srgbClr val="333333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400800" y="2880360"/>
            <a:ext cx="822960" cy="274320"/>
          </a:xfrm>
          <a:prstGeom prst="round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FUTURE</a:t>
            </a:r>
            <a:endParaRPr sz="800" b="1">
              <a:solidFill>
                <a:srgbClr val="FFFFFF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315200" y="28803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</a:rPr>
              <a:t>Production - PostgreSQL, mobile app, voice, BIS integration</a:t>
            </a:r>
            <a:endParaRPr sz="1000">
              <a:solidFill>
                <a:srgbClr val="333333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65760" y="45720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3A6E"/>
                </a:solidFill>
              </a:rPr>
              <a:t>Business Model</a:t>
            </a:r>
            <a:endParaRPr sz="1300" b="1">
              <a:solidFill>
                <a:srgbClr val="1A3A6E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365760" y="4892040"/>
            <a:ext cx="11338560" cy="14630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tlCol="0" anchor="ctr"/>
          <a:lstStyle/>
          <a:p>
            <a:pPr algn="ctr">
              <a:spcAft>
                <a:spcPts val="200"/>
              </a:spcAft>
            </a:pPr>
            <a:r>
              <a:rPr sz="1000">
                <a:solidFill>
                  <a:srgbClr val="FF6B35"/>
                </a:solidFill>
              </a:rPr>
              <a:t>&gt; </a:t>
            </a:r>
            <a:r>
              <a:rPr sz="1000" b="1">
                <a:solidFill>
                  <a:srgbClr val="1A3A6E"/>
                </a:solidFill>
              </a:rPr>
              <a:t>Free Tier:</a:t>
            </a:r>
            <a:r>
              <a:rPr sz="1000">
                <a:solidFill>
                  <a:srgbClr val="333333"/>
                </a:solidFill>
              </a:rPr>
              <a:t> 10 queries/day for individuals</a:t>
            </a:r>
            <a:endParaRPr sz="100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F6B35"/>
                </a:solidFill>
              </a:rPr>
              <a:t>&gt; </a:t>
            </a:r>
            <a:r>
              <a:rPr sz="1000" b="1">
                <a:solidFill>
                  <a:srgbClr val="1A3A6E"/>
                </a:solidFill>
              </a:rPr>
              <a:t>MSME (Rs.499/mo):</a:t>
            </a:r>
            <a:r>
              <a:rPr sz="1000">
                <a:solidFill>
                  <a:srgbClr val="333333"/>
                </a:solidFill>
              </a:rPr>
              <a:t> Unlimited + compliance calendar</a:t>
            </a:r>
            <a:endParaRPr sz="100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F6B35"/>
                </a:solidFill>
              </a:rPr>
              <a:t>&gt; </a:t>
            </a:r>
            <a:r>
              <a:rPr sz="1000" b="1">
                <a:solidFill>
                  <a:srgbClr val="1A3A6E"/>
                </a:solidFill>
              </a:rPr>
              <a:t>Enterprise (Rs.4,999/mo):</a:t>
            </a:r>
            <a:r>
              <a:rPr sz="1000">
                <a:solidFill>
                  <a:srgbClr val="333333"/>
                </a:solidFill>
              </a:rPr>
              <a:t> API + bulk check + support</a:t>
            </a:r>
            <a:endParaRPr sz="100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F6B35"/>
                </a:solidFill>
              </a:rPr>
              <a:t>&gt; </a:t>
            </a:r>
            <a:r>
              <a:rPr sz="1000" b="1">
                <a:solidFill>
                  <a:srgbClr val="1A3A6E"/>
                </a:solidFill>
              </a:rPr>
              <a:t>BIS Partnership:</a:t>
            </a:r>
            <a:r>
              <a:rPr sz="1000">
                <a:solidFill>
                  <a:srgbClr val="333333"/>
                </a:solidFill>
              </a:rPr>
              <a:t> Official data provider</a:t>
            </a:r>
            <a:endParaRPr sz="1000">
              <a:solidFill>
                <a:srgbClr val="333333"/>
              </a:solidFill>
            </a:endParaRP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F6B35"/>
                </a:solidFill>
              </a:rPr>
              <a:t>&gt; </a:t>
            </a:r>
            <a:r>
              <a:rPr sz="1000" b="1">
                <a:solidFill>
                  <a:srgbClr val="1A3A6E"/>
                </a:solidFill>
              </a:rPr>
              <a:t>Govt Grant:</a:t>
            </a:r>
            <a:r>
              <a:rPr sz="1000">
                <a:solidFill>
                  <a:srgbClr val="333333"/>
                </a:solidFill>
              </a:rPr>
              <a:t> MSME Samadhaan scheme</a:t>
            </a:r>
            <a:endParaRPr sz="100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3657600"/>
            <a:ext cx="3657600" cy="3657600"/>
          </a:xfrm>
          <a:prstGeom prst="ellipse">
            <a:avLst/>
          </a:prstGeom>
          <a:solidFill>
            <a:srgbClr val="FF6B35">
              <a:lumMod val="12000"/>
              <a:lumOff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THANK </a:t>
            </a:r>
            <a:r>
              <a:rPr sz="4800" b="1">
                <a:solidFill>
                  <a:srgbClr val="FF6B35"/>
                </a:solidFill>
              </a:rPr>
              <a:t>YOU</a:t>
            </a:r>
            <a:endParaRPr sz="4800" b="1">
              <a:solidFill>
                <a:srgbClr val="FF6B35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184648" y="2423160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6517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CCCCCC"/>
                </a:solidFill>
              </a:rPr>
              <a:t>ManakMitra - Making BIS Standards Accessible
to Every Indian Manufacturer</a:t>
            </a:r>
            <a:endParaRPr sz="1800">
              <a:solidFill>
                <a:srgbClr val="CCCCCC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5641848" y="3566160"/>
            <a:ext cx="914400" cy="914400"/>
          </a:xfrm>
          <a:prstGeom prst="ellipse">
            <a:avLst/>
          </a:prstGeom>
          <a:solidFill>
            <a:srgbClr val="30508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45720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Pavan Kumar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14800" y="489204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AAAAAA"/>
                </a:solidFill>
              </a:rPr>
              <a:t>Team Lead / Full Stack Developer</a:t>
            </a:r>
            <a:endParaRPr sz="1100">
              <a:solidFill>
                <a:srgbClr val="AAAAAA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657600" y="5303520"/>
            <a:ext cx="4846320" cy="64008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AAAAAA"/>
                </a:solidFill>
              </a:rPr>
              <a:t>Try live at  </a:t>
            </a:r>
            <a:r>
              <a:rPr sz="1400" b="1">
                <a:solidFill>
                  <a:srgbClr val="FF6B35"/>
                </a:solidFill>
              </a:rPr>
              <a:t>manakmitra-frontend.vercel.app</a:t>
            </a:r>
            <a:endParaRPr sz="1400" b="1">
              <a:solidFill>
                <a:srgbClr val="FF6B35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SIH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92640" y="27432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CCCCCC"/>
                </a:solidFill>
              </a:rPr>
              <a:t>SMART INDIA
HACKATHON 2026</a:t>
            </a:r>
            <a:endParaRPr sz="1100" b="1">
              <a:solidFill>
                <a:srgbClr val="CCCCCC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66666"/>
                </a:solidFill>
              </a:rPr>
              <a:t>@SIH Idea submission - Team Resonant</a:t>
            </a:r>
            <a:endParaRPr sz="9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5358</Words>
  <Application>WPS Presentation</Application>
  <PresentationFormat>On-screen Show (4:3)</PresentationFormat>
  <Paragraphs>428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WPS_1789006356</cp:lastModifiedBy>
  <cp:revision>2</cp:revision>
  <dcterms:created xsi:type="dcterms:W3CDTF">2013-01-27T09:14:00Z</dcterms:created>
  <dcterms:modified xsi:type="dcterms:W3CDTF">2026-09-10T04:02:40Z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8D7F3D66B20E4F0CBCD3AB3002E86BA0_12</vt:lpwstr>
  </property>
</Properties>
</file>