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2743200" cy="2743200"/>
          </a:xfrm>
          <a:prstGeom prst="ellipse">
            <a:avLst/>
          </a:prstGeom>
          <a:solidFill>
            <a:srgbClr val="FF6B35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80560" y="914400"/>
            <a:ext cx="3200400" cy="594360"/>
          </a:xfrm>
          <a:prstGeom prst="round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RESONANT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MANAK</a:t>
            </a:r>
            <a:r>
              <a:rPr sz="5200" b="1">
                <a:solidFill>
                  <a:srgbClr val="FF6B35"/>
                </a:solidFill>
              </a:rPr>
              <a:t>MITRA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301752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CCCCCC"/>
                </a:solidFill>
              </a:rPr>
              <a:t>AI-Powered BIS Standards Compliance Assistant
for Indian MSMEs and Manufacturers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11480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</a:rPr>
              <a:t>YOUR GUIDE TO BUREAU OF INDIAN STANDARDS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846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349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IS Standards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846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349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Languages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846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</a:rPr>
              <a:t>25+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349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BIS Offices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46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349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Certifications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SIH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7432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CCCCCC"/>
                </a:solidFill>
              </a:rPr>
              <a:t>SMART INDIA
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A6E"/>
                </a:solidFill>
              </a:rPr>
              <a:t>Resonant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A6E"/>
                </a:solidFill>
              </a:rPr>
              <a:t>MANAKMITRA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91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A3A6E"/>
                </a:solidFill>
              </a:rPr>
              <a:t>SMART INDIA
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@SIH Idea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Problems Faced &amp; Their Solutions: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5303520" cy="3200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9903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Problems Faced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39903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Proposed Solutions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737360"/>
            <a:ext cx="5303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Complex BIS Standards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17556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AI-based Simplification</a:t>
            </a:r>
          </a:p>
          <a:p>
            <a:r>
              <a:rPr sz="850">
                <a:solidFill>
                  <a:srgbClr val="333333"/>
                </a:solidFill>
              </a:rPr>
              <a:t>Explain technical requirements in simple language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21408"/>
            <a:ext cx="53035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6712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Scattered 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13969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Unified Platform</a:t>
            </a:r>
          </a:p>
          <a:p>
            <a:r>
              <a:rPr sz="850">
                <a:solidFill>
                  <a:srgbClr val="333333"/>
                </a:solidFill>
              </a:rPr>
              <a:t>Bring standards, certification &amp; lab info together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505456"/>
            <a:ext cx="5303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55117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Changing Standards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252374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Live Source Pipeline</a:t>
            </a:r>
          </a:p>
          <a:p>
            <a:r>
              <a:rPr sz="850">
                <a:solidFill>
                  <a:srgbClr val="333333"/>
                </a:solidFill>
              </a:rPr>
              <a:t>Pull info from official BIS sources automatically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889503"/>
            <a:ext cx="53035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3522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Finding Testing Labs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290779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Lab Directory</a:t>
            </a:r>
          </a:p>
          <a:p>
            <a:r>
              <a:rPr sz="850">
                <a:solidFill>
                  <a:srgbClr val="333333"/>
                </a:solidFill>
              </a:rPr>
              <a:t>Location-based finder with Google Maps directions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273551"/>
            <a:ext cx="5303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319271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Complex Certification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2918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Step-by-Step Guidance</a:t>
            </a:r>
          </a:p>
          <a:p>
            <a:r>
              <a:rPr sz="850">
                <a:solidFill>
                  <a:srgbClr val="333333"/>
                </a:solidFill>
              </a:rPr>
              <a:t>Clear process for ISI Mark, Hallmark &amp; Eco Mark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57599"/>
            <a:ext cx="53035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03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AI Hallucinations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367588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Source-Grounded RAG</a:t>
            </a:r>
          </a:p>
          <a:p>
            <a:r>
              <a:rPr sz="850">
                <a:solidFill>
                  <a:srgbClr val="333333"/>
                </a:solidFill>
              </a:rPr>
              <a:t>Responses based on verified BIS documents only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041648"/>
            <a:ext cx="5303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0873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Language Barrier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4059935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22 Indian Languages</a:t>
            </a:r>
          </a:p>
          <a:p>
            <a:r>
              <a:rPr sz="850">
                <a:solidFill>
                  <a:srgbClr val="333333"/>
                </a:solidFill>
              </a:rPr>
              <a:t>Auto-detect, translate, RAG, translate back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425696"/>
            <a:ext cx="53035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47141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Different User Needs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3240" y="4443983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1A3A6E"/>
                </a:solidFill>
              </a:rPr>
              <a:t>Context-Aware AI</a:t>
            </a:r>
          </a:p>
          <a:p>
            <a:r>
              <a:rPr sz="850">
                <a:solidFill>
                  <a:srgbClr val="333333"/>
                </a:solidFill>
              </a:rPr>
              <a:t>Tailors guidance per user product and query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System Architecture: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79" y="1417320"/>
            <a:ext cx="2377440" cy="3657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0">
                <a:solidFill>
                  <a:srgbClr val="333333"/>
                </a:solidFill>
              </a:rPr>
              <a:t>User Query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79" y="1920240"/>
            <a:ext cx="2377440" cy="36576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0">
                <a:solidFill>
                  <a:srgbClr val="333333"/>
                </a:solidFill>
              </a:rPr>
              <a:t>Auto-Detect, Translate (22 Lang)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2423160"/>
            <a:ext cx="2743200" cy="411480"/>
          </a:xfrm>
          <a:prstGeom prst="roundRect">
            <a:avLst/>
          </a:prstGeom>
          <a:solidFill>
            <a:srgbClr val="1A3A6E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RAG Engine (ONNX + FAISS)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2971800"/>
            <a:ext cx="2011680" cy="347472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ONNX Embeddings</a:t>
            </a:r>
          </a:p>
          <a:p>
            <a:pPr algn="ctr"/>
            <a:r>
              <a:rPr sz="700">
                <a:solidFill>
                  <a:srgbClr val="333333"/>
                </a:solidFill>
              </a:rPr>
              <a:t>all-MiniLM-L6-v2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95360" y="2971800"/>
            <a:ext cx="2011680" cy="347472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FAISS Vector Store</a:t>
            </a:r>
          </a:p>
          <a:p>
            <a:pPr algn="ctr"/>
            <a:r>
              <a:rPr sz="700">
                <a:solidFill>
                  <a:srgbClr val="333333"/>
                </a:solidFill>
              </a:rPr>
              <a:t>28 Standards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0" y="3474720"/>
            <a:ext cx="2743200" cy="3657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0">
                <a:solidFill>
                  <a:srgbClr val="333333"/>
                </a:solidFill>
              </a:rPr>
              <a:t>Gemini 3.6 Flash (LLM)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3977639"/>
            <a:ext cx="1645920" cy="3200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0">
                <a:solidFill>
                  <a:srgbClr val="333333"/>
                </a:solidFill>
              </a:rPr>
              <a:t>BIS Standards (28)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79" y="3977639"/>
            <a:ext cx="1645920" cy="3200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0">
                <a:solidFill>
                  <a:srgbClr val="333333"/>
                </a:solidFill>
              </a:rPr>
              <a:t>25+ BIS Offices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92640" y="3977639"/>
            <a:ext cx="1645920" cy="3200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0">
                <a:solidFill>
                  <a:srgbClr val="333333"/>
                </a:solidFill>
              </a:rPr>
              <a:t>Certifications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0" y="4480560"/>
            <a:ext cx="3291840" cy="3657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6-Section Structured Response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4983480"/>
            <a:ext cx="4389120" cy="320040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0">
                <a:solidFill>
                  <a:srgbClr val="333333"/>
                </a:solidFill>
              </a:rPr>
              <a:t>Chat | Standards | Offices | Certs</a:t>
            </a:r>
          </a:p>
        </p:txBody>
      </p:sp>
      <p:sp>
        <p:nvSpPr>
          <p:cNvPr id="50" name="Down Arrow 49"/>
          <p:cNvSpPr/>
          <p:nvPr/>
        </p:nvSpPr>
        <p:spPr>
          <a:xfrm>
            <a:off x="8549640" y="182880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own Arrow 50"/>
          <p:cNvSpPr/>
          <p:nvPr/>
        </p:nvSpPr>
        <p:spPr>
          <a:xfrm>
            <a:off x="8549640" y="233172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own Arrow 51"/>
          <p:cNvSpPr/>
          <p:nvPr/>
        </p:nvSpPr>
        <p:spPr>
          <a:xfrm>
            <a:off x="8549640" y="288036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own Arrow 52"/>
          <p:cNvSpPr/>
          <p:nvPr/>
        </p:nvSpPr>
        <p:spPr>
          <a:xfrm>
            <a:off x="8549640" y="342900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own Arrow 53"/>
          <p:cNvSpPr/>
          <p:nvPr/>
        </p:nvSpPr>
        <p:spPr>
          <a:xfrm>
            <a:off x="8549640" y="393192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own Arrow 54"/>
          <p:cNvSpPr/>
          <p:nvPr/>
        </p:nvSpPr>
        <p:spPr>
          <a:xfrm>
            <a:off x="8549640" y="443484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54864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How it addresses the problem:</a:t>
            </a:r>
          </a:p>
        </p:txBody>
      </p:sp>
      <p:sp>
        <p:nvSpPr>
          <p:cNvPr id="57" name="Oval 56"/>
          <p:cNvSpPr/>
          <p:nvPr/>
        </p:nvSpPr>
        <p:spPr>
          <a:xfrm>
            <a:off x="914400" y="5760720"/>
            <a:ext cx="1188720" cy="11887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SIMPLIFY
COMPLEX
STANDARDS</a:t>
            </a:r>
          </a:p>
        </p:txBody>
      </p:sp>
      <p:sp>
        <p:nvSpPr>
          <p:cNvPr id="58" name="Oval 57"/>
          <p:cNvSpPr/>
          <p:nvPr/>
        </p:nvSpPr>
        <p:spPr>
          <a:xfrm>
            <a:off x="457200" y="5989320"/>
            <a:ext cx="1188720" cy="11887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UNIFIED
COMPLIANCE
PLATFORM</a:t>
            </a:r>
          </a:p>
        </p:txBody>
      </p:sp>
      <p:sp>
        <p:nvSpPr>
          <p:cNvPr id="59" name="Oval 58"/>
          <p:cNvSpPr/>
          <p:nvPr/>
        </p:nvSpPr>
        <p:spPr>
          <a:xfrm>
            <a:off x="1371600" y="5989320"/>
            <a:ext cx="1188720" cy="118872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MULTILINGUAL
AI (22 Lang)</a:t>
            </a:r>
          </a:p>
        </p:txBody>
      </p:sp>
      <p:sp>
        <p:nvSpPr>
          <p:cNvPr id="60" name="Oval 59"/>
          <p:cNvSpPr/>
          <p:nvPr/>
        </p:nvSpPr>
        <p:spPr>
          <a:xfrm>
            <a:off x="1143000" y="6126480"/>
            <a:ext cx="777240" cy="777240"/>
          </a:xfrm>
          <a:prstGeom prst="ellipse">
            <a:avLst/>
          </a:prstGeom>
          <a:solidFill>
            <a:srgbClr val="1A3A6E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MANAK
MITRA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0" y="5486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Innovation and Uniqueness: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200400" y="5806440"/>
            <a:ext cx="850392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ctr">
              <a:spcAft>
                <a:spcPts val="100"/>
              </a:spcAft>
            </a:pPr>
            <a:r>
              <a:rPr sz="900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Source-Grounded RAG</a:t>
            </a:r>
            <a:r>
              <a:rPr sz="900">
                <a:solidFill>
                  <a:srgbClr val="333333"/>
                </a:solidFill>
              </a:rPr>
              <a:t> - ONNX + FAISS, citation-verified, source-grounded responses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Live BIS Pipeline</a:t>
            </a:r>
            <a:r>
              <a:rPr sz="900">
                <a:solidFill>
                  <a:srgbClr val="333333"/>
                </a:solidFill>
              </a:rPr>
              <a:t> - Auto-fetches new standards, always current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22 Indian Languages</a:t>
            </a:r>
            <a:r>
              <a:rPr sz="900">
                <a:solidFill>
                  <a:srgbClr val="333333"/>
                </a:solidFill>
              </a:rPr>
              <a:t> - Auto-detect, translate, RAG, translate-back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6-Section Responses</a:t>
            </a:r>
            <a:r>
              <a:rPr sz="900">
                <a:solidFill>
                  <a:srgbClr val="333333"/>
                </a:solidFill>
              </a:rPr>
              <a:t> - Standards, testing, offices, legal, QC, documents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Unified Ecosystem</a:t>
            </a:r>
            <a:r>
              <a:rPr sz="900">
                <a:solidFill>
                  <a:srgbClr val="333333"/>
                </a:solidFill>
              </a:rPr>
              <a:t> - Standards + certs + labs + AI in one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A6E"/>
                </a:solidFill>
              </a:rPr>
              <a:t>Resonant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A6E"/>
                </a:solidFill>
              </a:rPr>
              <a:t>MANAKMITRA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91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A3A6E"/>
                </a:solidFill>
              </a:rPr>
              <a:t>SMART INDIA
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@SIH Idea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914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3A6E"/>
                </a:solidFill>
              </a:rPr>
              <a:t>TECHNICAL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3A6E"/>
                </a:solidFill>
              </a:rPr>
              <a:t>Tech Stack: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Frontend:</a:t>
            </a:r>
            <a:r>
              <a:rPr sz="1300">
                <a:solidFill>
                  <a:srgbClr val="333333"/>
                </a:solidFill>
              </a:rPr>
              <a:t> React.js, Vite, Tailwind CSS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Backend:</a:t>
            </a:r>
            <a:r>
              <a:rPr sz="1300">
                <a:solidFill>
                  <a:srgbClr val="333333"/>
                </a:solidFill>
              </a:rPr>
              <a:t> Python, FastAPI, Uvicorn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Database &amp; Storage:</a:t>
            </a:r>
            <a:r>
              <a:rPr sz="1300">
                <a:solidFill>
                  <a:srgbClr val="333333"/>
                </a:solidFill>
              </a:rPr>
              <a:t> FAISS Vector Store, JSON user store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AI &amp; ML:</a:t>
            </a:r>
            <a:r>
              <a:rPr sz="1300">
                <a:solidFill>
                  <a:srgbClr val="333333"/>
                </a:solidFill>
              </a:rPr>
              <a:t> Google Gemini API, ONNX Runtime, Sentence Transformers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Embeddings:</a:t>
            </a:r>
            <a:r>
              <a:rPr sz="1300">
                <a:solidFill>
                  <a:srgbClr val="333333"/>
                </a:solidFill>
              </a:rPr>
              <a:t> all-MiniLM-L6-v2 (384-dim), FAISS indexing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Document Processing:</a:t>
            </a:r>
            <a:r>
              <a:rPr sz="1300">
                <a:solidFill>
                  <a:srgbClr val="333333"/>
                </a:solidFill>
              </a:rPr>
              <a:t> PDFPlumber, Text chunking, Vector indexing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Authentication:</a:t>
            </a:r>
            <a:r>
              <a:rPr sz="1300">
                <a:solidFill>
                  <a:srgbClr val="333333"/>
                </a:solidFill>
              </a:rPr>
              <a:t> JWT tokens, bcrypt password hashing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Multilingual:</a:t>
            </a:r>
            <a:r>
              <a:rPr sz="1300">
                <a:solidFill>
                  <a:srgbClr val="333333"/>
                </a:solidFill>
              </a:rPr>
              <a:t> deep-translator, langdetect (22 Indian languages)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Deployment:</a:t>
            </a:r>
            <a:r>
              <a:rPr sz="1300">
                <a:solidFill>
                  <a:srgbClr val="333333"/>
                </a:solidFill>
              </a:rPr>
              <a:t> Git/GitHub, Vercel (Frontend), Render (Backend)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3A6E"/>
                </a:solidFill>
              </a:rPr>
              <a:t>Live prototype: </a:t>
            </a:r>
            <a:r>
              <a:rPr sz="1400" b="1">
                <a:solidFill>
                  <a:srgbClr val="2196F3"/>
                </a:solidFill>
              </a:rPr>
              <a:t>sih2026-bis-assistant-ebon.vercel.app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371600"/>
            <a:ext cx="27432" cy="5029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4173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Architecture Flow: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920240"/>
            <a:ext cx="201168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/>
          <a:lstStyle/>
          <a:p>
            <a:pPr algn="ctr"/>
            <a:r>
              <a:rPr sz="1800"/>
              <a:t/>
            </a:r>
          </a:p>
          <a:p>
            <a:pPr algn="ctr"/>
            <a:r>
              <a:rPr sz="1000" b="1">
                <a:solidFill>
                  <a:srgbClr val="4CAF50"/>
                </a:solidFill>
              </a:rPr>
              <a:t>User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Enters product query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Selects language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Voice input (opt)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1920240"/>
            <a:ext cx="2011680" cy="9144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/>
          <a:lstStyle/>
          <a:p>
            <a:pPr algn="ctr"/>
            <a:r>
              <a:rPr sz="1800"/>
              <a:t/>
            </a:r>
          </a:p>
          <a:p>
            <a:pPr algn="ctr"/>
            <a:r>
              <a:rPr sz="1000" b="1">
                <a:solidFill>
                  <a:srgbClr val="2196F3"/>
                </a:solidFill>
              </a:rPr>
              <a:t>ManakMitra App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React + Vite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Multilingual UI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Chat +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89920" y="1920240"/>
            <a:ext cx="1371600" cy="914400"/>
          </a:xfrm>
          <a:prstGeom prst="roundRect">
            <a:avLst/>
          </a:prstGeom>
          <a:solidFill>
            <a:srgbClr val="1A3A6E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/>
          <a:lstStyle/>
          <a:p>
            <a:pPr algn="ctr"/>
            <a:r>
              <a:rPr sz="1800"/>
              <a:t/>
            </a:r>
          </a:p>
          <a:p>
            <a:pPr algn="ctr"/>
            <a:r>
              <a:rPr sz="1000" b="1">
                <a:solidFill>
                  <a:srgbClr val="1A3A6E"/>
                </a:solidFill>
              </a:rPr>
              <a:t>RAG Engine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ONNX + FAISS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Vector search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Context retrieval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275320" y="2286000"/>
            <a:ext cx="228600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10561320" y="2286000"/>
            <a:ext cx="228600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3017520"/>
            <a:ext cx="2011680" cy="8229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/>
          <a:lstStyle/>
          <a:p>
            <a:pPr algn="ctr"/>
            <a:r>
              <a:rPr sz="1800"/>
              <a:t/>
            </a:r>
          </a:p>
          <a:p>
            <a:pPr algn="ctr"/>
            <a:r>
              <a:rPr sz="1000" b="1">
                <a:solidFill>
                  <a:srgbClr val="FF9800"/>
                </a:solidFill>
              </a:rPr>
              <a:t>BIS Retrieval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Fetch standards from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bis.gov.in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Auto-fetch pipeline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7132320" y="2880360"/>
            <a:ext cx="137160" cy="13716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03920" y="3017520"/>
            <a:ext cx="2011680" cy="82296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/>
          <a:lstStyle/>
          <a:p>
            <a:pPr algn="ctr"/>
            <a:r>
              <a:rPr sz="1800"/>
              <a:t/>
            </a:r>
          </a:p>
          <a:p>
            <a:pPr algn="ctr"/>
            <a:r>
              <a:rPr sz="1000" b="1">
                <a:solidFill>
                  <a:srgbClr val="9C27B0"/>
                </a:solidFill>
              </a:rPr>
              <a:t>Gemini LLM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Generate 6-section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structured response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Source-grounded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275320" y="3337560"/>
            <a:ext cx="228600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789920" y="3017520"/>
            <a:ext cx="1371600" cy="8229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/>
          <a:lstStyle/>
          <a:p>
            <a:pPr algn="ctr"/>
            <a:r>
              <a:rPr sz="1800"/>
              <a:t/>
            </a:r>
          </a:p>
          <a:p>
            <a:pPr algn="ctr"/>
            <a:r>
              <a:rPr sz="1000" b="1">
                <a:solidFill>
                  <a:srgbClr val="4CAF50"/>
                </a:solidFill>
              </a:rPr>
              <a:t>Response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Standards + Testing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Offices + Certs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Documents + QC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1430000" y="3886200"/>
            <a:ext cx="137160" cy="13716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4114800"/>
            <a:ext cx="1371600" cy="64008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Standards
Library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4114800"/>
            <a:ext cx="1371600" cy="64008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BIS Office
Finder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4114800"/>
            <a:ext cx="1371600" cy="64008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Certification
Guide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881360" y="4114800"/>
            <a:ext cx="1371600" cy="64008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3333"/>
                </a:solidFill>
              </a:rPr>
              <a:t>Analytics
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937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Tech Used: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212080"/>
            <a:ext cx="1097280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tIns="25400"/>
          <a:lstStyle/>
          <a:p>
            <a:pPr algn="ctr"/>
            <a:r>
              <a:rPr sz="800" b="1">
                <a:solidFill>
                  <a:srgbClr val="1A3A6E"/>
                </a:solidFill>
              </a:rPr>
              <a:t>Frontend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React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Vite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Tailwind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24927" y="5212080"/>
            <a:ext cx="1097280" cy="8229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tIns="25400"/>
          <a:lstStyle/>
          <a:p>
            <a:pPr algn="ctr"/>
            <a:r>
              <a:rPr sz="800" b="1">
                <a:solidFill>
                  <a:srgbClr val="1A3A6E"/>
                </a:solidFill>
              </a:rPr>
              <a:t>Backend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Python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FastAPI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Uvicorn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31936" y="5212080"/>
            <a:ext cx="1097280" cy="8229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tIns="25400"/>
          <a:lstStyle/>
          <a:p>
            <a:pPr algn="ctr"/>
            <a:r>
              <a:rPr sz="800" b="1">
                <a:solidFill>
                  <a:srgbClr val="1A3A6E"/>
                </a:solidFill>
              </a:rPr>
              <a:t>AI/ML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Gemini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ONNX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FAISS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NumPy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38944" y="5212080"/>
            <a:ext cx="1097280" cy="82296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tIns="25400"/>
          <a:lstStyle/>
          <a:p>
            <a:pPr algn="ctr"/>
            <a:r>
              <a:rPr sz="800" b="1">
                <a:solidFill>
                  <a:srgbClr val="1A3A6E"/>
                </a:solidFill>
              </a:rPr>
              <a:t>Data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PDF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Chunk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Embed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Index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45952" y="5212080"/>
            <a:ext cx="1097280" cy="82296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tIns="25400"/>
          <a:lstStyle/>
          <a:p>
            <a:pPr algn="ctr"/>
            <a:r>
              <a:rPr sz="800" b="1">
                <a:solidFill>
                  <a:srgbClr val="1A3A6E"/>
                </a:solidFill>
              </a:rPr>
              <a:t>Services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JWT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22Lang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Maps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Fetch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120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App Screenshots: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440680"/>
            <a:ext cx="1188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6692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99999"/>
                </a:solidFill>
              </a:rPr>
              <a:t>BIS Offices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28800" y="5440680"/>
            <a:ext cx="1188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0240" y="56692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99999"/>
                </a:solidFill>
              </a:rPr>
              <a:t>BIS Offices Dark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0400" y="5440680"/>
            <a:ext cx="1188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56692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99999"/>
                </a:solidFill>
              </a:rPr>
              <a:t>Auto-Fetch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0" y="5440680"/>
            <a:ext cx="1188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3440" y="56692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99999"/>
                </a:solidFill>
              </a:rPr>
              <a:t>Auto-Fetch Dark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120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Key Features: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4406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22 Indian Languages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6-Section AI Response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Citation-Verified RAG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Live Auto-Fetch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BIS Office Finder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Certification Guide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Multi-User Auth (JWT)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Dark/Light Mode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A6E"/>
                </a:solidFill>
              </a:rPr>
              <a:t>Resonant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A6E"/>
                </a:solidFill>
              </a:rPr>
              <a:t>MANAKMITRA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91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A3A6E"/>
                </a:solidFill>
              </a:rPr>
              <a:t>SMART INDIA
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@SIH Idea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Live Demo - Key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52120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2646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3A6E"/>
                </a:solidFill>
              </a:rPr>
              <a:t>Multilingual AI Chat</a:t>
            </a:r>
          </a:p>
          <a:p>
            <a:r>
              <a:rPr sz="950">
                <a:solidFill>
                  <a:srgbClr val="333333"/>
                </a:solidFill>
              </a:rPr>
              <a:t>Ask in Hindi, Telugu, Tamil, Bengali or 18 other Indian languages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11680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2011680"/>
            <a:ext cx="52120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06654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3A6E"/>
                </a:solidFill>
              </a:rPr>
              <a:t>6-Section Response</a:t>
            </a:r>
          </a:p>
          <a:p>
            <a:r>
              <a:rPr sz="950">
                <a:solidFill>
                  <a:srgbClr val="333333"/>
                </a:solidFill>
              </a:rPr>
              <a:t>Standards, testing, offices, legal basis, QC, documents - every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51760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2651760"/>
            <a:ext cx="52120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70662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3A6E"/>
                </a:solidFill>
              </a:rPr>
              <a:t>Live Auto-Fetch</a:t>
            </a:r>
          </a:p>
          <a:p>
            <a:r>
              <a:rPr sz="950">
                <a:solidFill>
                  <a:srgbClr val="333333"/>
                </a:solidFill>
              </a:rPr>
              <a:t>Scrapes bis.gov.in for new standards and indexes automatically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291840"/>
            <a:ext cx="52120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34670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3A6E"/>
                </a:solidFill>
              </a:rPr>
              <a:t>BIS Office Finder</a:t>
            </a:r>
          </a:p>
          <a:p>
            <a:r>
              <a:rPr sz="950">
                <a:solidFill>
                  <a:srgbClr val="333333"/>
                </a:solidFill>
              </a:rPr>
              <a:t>GPS-based nearest centre with directions and phone numbers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3931920"/>
            <a:ext cx="52120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8678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3A6E"/>
                </a:solidFill>
              </a:rPr>
              <a:t>Certification Guide</a:t>
            </a:r>
          </a:p>
          <a:p>
            <a:r>
              <a:rPr sz="950">
                <a:solidFill>
                  <a:srgbClr val="333333"/>
                </a:solidFill>
              </a:rPr>
              <a:t>Step-by-step for ISI Mark, Hallmark, Eco Mark, CMVR, MSME Udyam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App Screenshots: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417320"/>
            <a:ext cx="53035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417320"/>
            <a:ext cx="5303520" cy="27432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 ManakMitra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1874519"/>
            <a:ext cx="2743200" cy="27432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800">
                <a:solidFill>
                  <a:srgbClr val="FFFFFF"/>
                </a:solidFill>
              </a:rPr>
              <a:t>What standards for cement?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286000"/>
            <a:ext cx="4937760" cy="256032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ctr"/>
            <a:r>
              <a:rPr sz="800" b="1">
                <a:solidFill>
                  <a:srgbClr val="333333"/>
                </a:solidFill>
              </a:rPr>
              <a:t>1. IS Standards: IS 269, IS 455, IS 1489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606040"/>
            <a:ext cx="4937760" cy="256032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ctr"/>
            <a:r>
              <a:rPr sz="800" b="1">
                <a:solidFill>
                  <a:srgbClr val="333333"/>
                </a:solidFill>
              </a:rPr>
              <a:t>2. Testing: Compressive strength per IS 4031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926080"/>
            <a:ext cx="4937760" cy="25603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ctr"/>
            <a:r>
              <a:rPr sz="800" b="1">
                <a:solidFill>
                  <a:srgbClr val="333333"/>
                </a:solidFill>
              </a:rPr>
              <a:t>3. Where to Test: BIS Lab Delhi 011-2323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246120"/>
            <a:ext cx="4937760" cy="256032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ctr"/>
            <a:r>
              <a:rPr sz="800" b="1">
                <a:solidFill>
                  <a:srgbClr val="333333"/>
                </a:solidFill>
              </a:rPr>
              <a:t>4. Mandatory: Yes, under BIS Act 2016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9319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931920"/>
            <a:ext cx="5303520" cy="27432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  BIS Standards Library - 28 Standards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3434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38100"/>
          <a:lstStyle/>
          <a:p>
            <a:pPr algn="ctr"/>
            <a:r>
              <a:rPr sz="700" b="1">
                <a:solidFill>
                  <a:srgbClr val="FF6B35"/>
                </a:solidFill>
              </a:rPr>
              <a:t>CEMENT</a:t>
            </a:r>
          </a:p>
          <a:p>
            <a:r>
              <a:rPr sz="1100" b="1">
                <a:solidFill>
                  <a:srgbClr val="1A3A6E"/>
                </a:solidFill>
              </a:rPr>
              <a:t>IS 269</a:t>
            </a:r>
          </a:p>
          <a:p>
            <a:r>
              <a:rPr sz="800">
                <a:solidFill>
                  <a:srgbClr val="333333"/>
                </a:solidFill>
              </a:rPr>
              <a:t>OPC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3434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38100"/>
          <a:lstStyle/>
          <a:p>
            <a:pPr algn="ctr"/>
            <a:r>
              <a:rPr sz="700" b="1">
                <a:solidFill>
                  <a:srgbClr val="FF6B35"/>
                </a:solidFill>
              </a:rPr>
              <a:t>STEEL</a:t>
            </a:r>
          </a:p>
          <a:p>
            <a:r>
              <a:rPr sz="1100" b="1">
                <a:solidFill>
                  <a:srgbClr val="1A3A6E"/>
                </a:solidFill>
              </a:rPr>
              <a:t>IS 2062</a:t>
            </a:r>
          </a:p>
          <a:p>
            <a:r>
              <a:rPr sz="800">
                <a:solidFill>
                  <a:srgbClr val="333333"/>
                </a:solidFill>
              </a:rPr>
              <a:t>Structural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20" y="43434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38100"/>
          <a:lstStyle/>
          <a:p>
            <a:pPr algn="ctr"/>
            <a:r>
              <a:rPr sz="700" b="1">
                <a:solidFill>
                  <a:srgbClr val="FF6B35"/>
                </a:solidFill>
              </a:rPr>
              <a:t>ELECTRICAL</a:t>
            </a:r>
          </a:p>
          <a:p>
            <a:r>
              <a:rPr sz="1100" b="1">
                <a:solidFill>
                  <a:srgbClr val="1A3A6E"/>
                </a:solidFill>
              </a:rPr>
              <a:t>IS 302</a:t>
            </a:r>
          </a:p>
          <a:p>
            <a:r>
              <a:rPr sz="800">
                <a:solidFill>
                  <a:srgbClr val="333333"/>
                </a:solidFill>
              </a:rPr>
              <a:t>Appliances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2578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38100"/>
          <a:lstStyle/>
          <a:p>
            <a:pPr algn="ctr"/>
            <a:r>
              <a:rPr sz="700" b="1">
                <a:solidFill>
                  <a:srgbClr val="FF6B35"/>
                </a:solidFill>
              </a:rPr>
              <a:t>FOOD</a:t>
            </a:r>
          </a:p>
          <a:p>
            <a:r>
              <a:rPr sz="1100" b="1">
                <a:solidFill>
                  <a:srgbClr val="1A3A6E"/>
                </a:solidFill>
              </a:rPr>
              <a:t>IS 14543</a:t>
            </a:r>
          </a:p>
          <a:p>
            <a:r>
              <a:rPr sz="800">
                <a:solidFill>
                  <a:srgbClr val="333333"/>
                </a:solidFill>
              </a:rPr>
              <a:t>Water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52578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38100"/>
          <a:lstStyle/>
          <a:p>
            <a:pPr algn="ctr"/>
            <a:r>
              <a:rPr sz="700" b="1">
                <a:solidFill>
                  <a:srgbClr val="FF6B35"/>
                </a:solidFill>
              </a:rPr>
              <a:t>ELECTRICAL</a:t>
            </a:r>
          </a:p>
          <a:p>
            <a:r>
              <a:rPr sz="1100" b="1">
                <a:solidFill>
                  <a:srgbClr val="1A3A6E"/>
                </a:solidFill>
              </a:rPr>
              <a:t>IS 15556</a:t>
            </a:r>
          </a:p>
          <a:p>
            <a:r>
              <a:rPr sz="800">
                <a:solidFill>
                  <a:srgbClr val="333333"/>
                </a:solidFill>
              </a:rPr>
              <a:t>LED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75520" y="52578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38100"/>
          <a:lstStyle/>
          <a:p>
            <a:pPr algn="ctr"/>
            <a:r>
              <a:rPr sz="700" b="1">
                <a:solidFill>
                  <a:srgbClr val="FF6B35"/>
                </a:solidFill>
              </a:rPr>
              <a:t>LEATHER</a:t>
            </a:r>
          </a:p>
          <a:p>
            <a:r>
              <a:rPr sz="1100" b="1">
                <a:solidFill>
                  <a:srgbClr val="1A3A6E"/>
                </a:solidFill>
              </a:rPr>
              <a:t>IS 3289</a:t>
            </a:r>
          </a:p>
          <a:p>
            <a:r>
              <a:rPr sz="800">
                <a:solidFill>
                  <a:srgbClr val="333333"/>
                </a:solidFill>
              </a:rPr>
              <a:t>Finished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A6E"/>
                </a:solidFill>
              </a:rPr>
              <a:t>Resonant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A6E"/>
                </a:solidFill>
              </a:rPr>
              <a:t>MANAKMITRA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91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A3A6E"/>
                </a:solidFill>
              </a:rPr>
              <a:t>SMART INDIA
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@SIH Idea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914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3A6E"/>
                </a:solidFill>
              </a:rPr>
              <a:t>FEASIBILITY AND VIABILITY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565C0"/>
                </a:solidFill>
              </a:rPr>
              <a:t>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35"/>
                </a:solidFill>
              </a:rPr>
              <a:t>&gt; </a:t>
            </a:r>
            <a:r>
              <a:rPr sz="1200" b="1">
                <a:solidFill>
                  <a:srgbClr val="1A3A6E"/>
                </a:solidFill>
              </a:rPr>
              <a:t>Technical:</a:t>
            </a:r>
            <a:r>
              <a:rPr sz="1200">
                <a:solidFill>
                  <a:srgbClr val="333333"/>
                </a:solidFill>
              </a:rPr>
              <a:t> Proven tech stack - React, FastAPI, ONNX, FAISS, Gemini API. Quick to build and deploy MVP.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35"/>
                </a:solidFill>
              </a:rPr>
              <a:t>&gt; </a:t>
            </a:r>
            <a:r>
              <a:rPr sz="1200" b="1">
                <a:solidFill>
                  <a:srgbClr val="1A3A6E"/>
                </a:solidFill>
              </a:rPr>
              <a:t>Data:</a:t>
            </a:r>
            <a:r>
              <a:rPr sz="1200">
                <a:solidFill>
                  <a:srgbClr val="333333"/>
                </a:solidFill>
              </a:rPr>
              <a:t> BIS standards publicly available on bis.gov.in. 28 standards indexed, expandable to 28,000+.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35"/>
                </a:solidFill>
              </a:rPr>
              <a:t>&gt; </a:t>
            </a:r>
            <a:r>
              <a:rPr sz="1200" b="1">
                <a:solidFill>
                  <a:srgbClr val="1A3A6E"/>
                </a:solidFill>
              </a:rPr>
              <a:t>Economic:</a:t>
            </a:r>
            <a:r>
              <a:rPr sz="1200">
                <a:solidFill>
                  <a:srgbClr val="333333"/>
                </a:solidFill>
              </a:rPr>
              <a:t> Open-source tools, free cloud tiers (Render + Vercel), zero upfront cost.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35"/>
                </a:solidFill>
              </a:rPr>
              <a:t>&gt; </a:t>
            </a:r>
            <a:r>
              <a:rPr sz="1200" b="1">
                <a:solidFill>
                  <a:srgbClr val="1A3A6E"/>
                </a:solidFill>
              </a:rPr>
              <a:t>Multilingual:</a:t>
            </a:r>
            <a:r>
              <a:rPr sz="1200">
                <a:solidFill>
                  <a:srgbClr val="333333"/>
                </a:solidFill>
              </a:rPr>
              <a:t> deep-translator supports 22 Indian languages. Auto-detect, translate, process, translate back.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35"/>
                </a:solidFill>
              </a:rPr>
              <a:t>&gt; </a:t>
            </a:r>
            <a:r>
              <a:rPr sz="1200" b="1">
                <a:solidFill>
                  <a:srgbClr val="1A3A6E"/>
                </a:solidFill>
              </a:rPr>
              <a:t>User-Friendly:</a:t>
            </a:r>
            <a:r>
              <a:rPr sz="1200">
                <a:solidFill>
                  <a:srgbClr val="333333"/>
                </a:solidFill>
              </a:rPr>
              <a:t> ChatGPT-like interface - no training needed. MSMEs can ask in their own language.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35"/>
                </a:solidFill>
              </a:rPr>
              <a:t>&gt; </a:t>
            </a:r>
            <a:r>
              <a:rPr sz="1200" b="1">
                <a:solidFill>
                  <a:srgbClr val="1A3A6E"/>
                </a:solidFill>
              </a:rPr>
              <a:t>Scalability:</a:t>
            </a:r>
            <a:r>
              <a:rPr sz="1200">
                <a:solidFill>
                  <a:srgbClr val="333333"/>
                </a:solidFill>
              </a:rPr>
              <a:t> Modular RAG architecture. Adding new standards = adding new PDF files. No code changes.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530352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D32"/>
                </a:solidFill>
              </a:rPr>
              <a:t>Viability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35"/>
                </a:solidFill>
              </a:rPr>
              <a:t>&gt; </a:t>
            </a:r>
            <a:r>
              <a:rPr sz="1200" b="1">
                <a:solidFill>
                  <a:srgbClr val="1A3A6E"/>
                </a:solidFill>
              </a:rPr>
              <a:t>Market Demand:</a:t>
            </a:r>
            <a:r>
              <a:rPr sz="1200">
                <a:solidFill>
                  <a:srgbClr val="333333"/>
                </a:solidFill>
              </a:rPr>
              <a:t> 63M+ MSMEs in India struggle with BIS compliance. Free AI tools answer generically - none indexes official IS text with citations.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35"/>
                </a:solidFill>
              </a:rPr>
              <a:t>&gt; </a:t>
            </a:r>
            <a:r>
              <a:rPr sz="1200" b="1">
                <a:solidFill>
                  <a:srgbClr val="1A3A6E"/>
                </a:solidFill>
              </a:rPr>
              <a:t>Adoption:</a:t>
            </a:r>
            <a:r>
              <a:rPr sz="1200">
                <a:solidFill>
                  <a:srgbClr val="333333"/>
                </a:solidFill>
              </a:rPr>
              <a:t> WhatsApp-like chat interface - familiar to Indian users. No app download needed (web-based).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35"/>
                </a:solidFill>
              </a:rPr>
              <a:t>&gt; </a:t>
            </a:r>
            <a:r>
              <a:rPr sz="1200" b="1">
                <a:solidFill>
                  <a:srgbClr val="1A3A6E"/>
                </a:solidFill>
              </a:rPr>
              <a:t>Sustainability:</a:t>
            </a:r>
            <a:r>
              <a:rPr sz="1200">
                <a:solidFill>
                  <a:srgbClr val="333333"/>
                </a:solidFill>
              </a:rPr>
              <a:t> Freemium model - free for individuals, paid plans for MSMEs and enterprises.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35"/>
                </a:solidFill>
              </a:rPr>
              <a:t>&gt; </a:t>
            </a:r>
            <a:r>
              <a:rPr sz="1200" b="1">
                <a:solidFill>
                  <a:srgbClr val="1A3A6E"/>
                </a:solidFill>
              </a:rPr>
              <a:t>Trust:</a:t>
            </a:r>
            <a:r>
              <a:rPr sz="1200">
                <a:solidFill>
                  <a:srgbClr val="333333"/>
                </a:solidFill>
              </a:rPr>
              <a:t> Cited sources on every answer; 97.8% of IS references verified against retrieved text (28-question eval harness in repo).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35"/>
                </a:solidFill>
              </a:rPr>
              <a:t>&gt; </a:t>
            </a:r>
            <a:r>
              <a:rPr sz="1200" b="1">
                <a:solidFill>
                  <a:srgbClr val="1A3A6E"/>
                </a:solidFill>
              </a:rPr>
              <a:t>Government Alignment:</a:t>
            </a:r>
            <a:r>
              <a:rPr sz="1200">
                <a:solidFill>
                  <a:srgbClr val="333333"/>
                </a:solidFill>
              </a:rPr>
              <a:t> Supports BIS Act 2016 compliance goals. Can integrate with MSME Samadhaan scheme.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35"/>
                </a:solidFill>
              </a:rPr>
              <a:t>&gt; </a:t>
            </a:r>
            <a:r>
              <a:rPr sz="1200" b="1">
                <a:solidFill>
                  <a:srgbClr val="1A3A6E"/>
                </a:solidFill>
              </a:rPr>
              <a:t>Partnerships:</a:t>
            </a:r>
            <a:r>
              <a:rPr sz="1200">
                <a:solidFill>
                  <a:srgbClr val="333333"/>
                </a:solidFill>
              </a:rPr>
              <a:t> No committed partners yet - outreach planned to BIS-recognized labs and MSME bodies; freemium subscriptions as the revenue model.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371600"/>
            <a:ext cx="27432" cy="5029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5486400" cy="2560320"/>
          </a:xfrm>
          <a:prstGeom prst="roundRect">
            <a:avLst/>
          </a:prstGeom>
          <a:noFill/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463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3A6E"/>
                </a:solidFill>
              </a:rPr>
              <a:t>Use Cases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1920240"/>
            <a:ext cx="548640" cy="54864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/>
              <a:t>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51460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MSME Owner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7432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333333"/>
                </a:solidFill>
              </a:rPr>
              <a:t>Quick standards check
Certification guidance</a:t>
            </a:r>
          </a:p>
        </p:txBody>
      </p:sp>
      <p:sp>
        <p:nvSpPr>
          <p:cNvPr id="22" name="Oval 21"/>
          <p:cNvSpPr/>
          <p:nvPr/>
        </p:nvSpPr>
        <p:spPr>
          <a:xfrm>
            <a:off x="7525512" y="1920240"/>
            <a:ext cx="548640" cy="54864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/>
              <a:t>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51460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Manufacturer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52" y="27432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333333"/>
                </a:solidFill>
              </a:rPr>
              <a:t>Test requirements
Lab locations</a:t>
            </a:r>
          </a:p>
        </p:txBody>
      </p:sp>
      <p:sp>
        <p:nvSpPr>
          <p:cNvPr id="25" name="Oval 24"/>
          <p:cNvSpPr/>
          <p:nvPr/>
        </p:nvSpPr>
        <p:spPr>
          <a:xfrm>
            <a:off x="8604504" y="1920240"/>
            <a:ext cx="548640" cy="54864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/>
              <a:t>👩‍💼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344" y="251460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Quality Manager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7344" y="27432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333333"/>
                </a:solidFill>
              </a:rPr>
              <a:t>Standards updates
Compliance tracking</a:t>
            </a:r>
          </a:p>
        </p:txBody>
      </p:sp>
      <p:sp>
        <p:nvSpPr>
          <p:cNvPr id="28" name="Oval 27"/>
          <p:cNvSpPr/>
          <p:nvPr/>
        </p:nvSpPr>
        <p:spPr>
          <a:xfrm>
            <a:off x="9683496" y="1920240"/>
            <a:ext cx="548640" cy="54864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/>
              <a:t>🏛️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6336" y="251460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Government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6336" y="27432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333333"/>
                </a:solidFill>
              </a:rPr>
              <a:t>BIS compliance awareness
Policy-aligned guidance</a:t>
            </a:r>
          </a:p>
        </p:txBody>
      </p:sp>
      <p:sp>
        <p:nvSpPr>
          <p:cNvPr id="31" name="Oval 30"/>
          <p:cNvSpPr/>
          <p:nvPr/>
        </p:nvSpPr>
        <p:spPr>
          <a:xfrm>
            <a:off x="10762488" y="1920240"/>
            <a:ext cx="548640" cy="54864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/>
              <a:t>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25328" y="251460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Testing Labs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25328" y="27432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333333"/>
                </a:solidFill>
              </a:rPr>
              <a:t>Reference standards
Client guidance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114800"/>
            <a:ext cx="5486400" cy="2286000"/>
          </a:xfrm>
          <a:prstGeom prst="roundRect">
            <a:avLst/>
          </a:prstGeom>
          <a:noFill/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4206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Challenges &amp; Mitigations</a:t>
            </a:r>
          </a:p>
        </p:txBody>
      </p:sp>
      <p:sp>
        <p:nvSpPr>
          <p:cNvPr id="36" name="Oval 35"/>
          <p:cNvSpPr/>
          <p:nvPr/>
        </p:nvSpPr>
        <p:spPr>
          <a:xfrm>
            <a:off x="6446520" y="4663440"/>
            <a:ext cx="457200" cy="457200"/>
          </a:xfrm>
          <a:prstGeom prst="ellipse">
            <a:avLst/>
          </a:prstGeom>
          <a:solidFill>
            <a:srgbClr val="F3E5F5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/>
              <a:t>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1663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Data Security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3949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333333"/>
                </a:solidFill>
              </a:rPr>
              <a:t>JWT auth + bcrypt
No PII stored server-side</a:t>
            </a:r>
          </a:p>
        </p:txBody>
      </p:sp>
      <p:sp>
        <p:nvSpPr>
          <p:cNvPr id="39" name="Oval 38"/>
          <p:cNvSpPr/>
          <p:nvPr/>
        </p:nvSpPr>
        <p:spPr>
          <a:xfrm>
            <a:off x="7525512" y="4663440"/>
            <a:ext cx="457200" cy="457200"/>
          </a:xfrm>
          <a:prstGeom prst="ellipse">
            <a:avLst/>
          </a:prstGeom>
          <a:solidFill>
            <a:srgbClr val="F3E5F5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/>
              <a:t>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88352" y="51663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User Adoption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88352" y="53949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333333"/>
                </a:solidFill>
              </a:rPr>
              <a:t>WhatsApp-like UI
No training needed</a:t>
            </a:r>
          </a:p>
        </p:txBody>
      </p:sp>
      <p:sp>
        <p:nvSpPr>
          <p:cNvPr id="42" name="Oval 41"/>
          <p:cNvSpPr/>
          <p:nvPr/>
        </p:nvSpPr>
        <p:spPr>
          <a:xfrm>
            <a:off x="8604504" y="4663440"/>
            <a:ext cx="457200" cy="457200"/>
          </a:xfrm>
          <a:prstGeom prst="ellipse">
            <a:avLst/>
          </a:prstGeom>
          <a:solidFill>
            <a:srgbClr val="F3E5F5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/>
              <a:t>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67344" y="51663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Scalability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67344" y="53949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333333"/>
                </a:solidFill>
              </a:rPr>
              <a:t>Modular RAG design
Add standards = add PDFs</a:t>
            </a:r>
          </a:p>
        </p:txBody>
      </p:sp>
      <p:sp>
        <p:nvSpPr>
          <p:cNvPr id="45" name="Oval 44"/>
          <p:cNvSpPr/>
          <p:nvPr/>
        </p:nvSpPr>
        <p:spPr>
          <a:xfrm>
            <a:off x="9683496" y="4663440"/>
            <a:ext cx="457200" cy="457200"/>
          </a:xfrm>
          <a:prstGeom prst="ellipse">
            <a:avLst/>
          </a:prstGeom>
          <a:solidFill>
            <a:srgbClr val="F3E5F5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/>
              <a:t>🗣️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6336" y="51663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Language Accuracy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46336" y="53949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333333"/>
                </a:solidFill>
              </a:rPr>
              <a:t>Auto-detect + translate
22 Indian languages</a:t>
            </a:r>
          </a:p>
        </p:txBody>
      </p:sp>
      <p:sp>
        <p:nvSpPr>
          <p:cNvPr id="48" name="Oval 47"/>
          <p:cNvSpPr/>
          <p:nvPr/>
        </p:nvSpPr>
        <p:spPr>
          <a:xfrm>
            <a:off x="10762488" y="4663440"/>
            <a:ext cx="457200" cy="457200"/>
          </a:xfrm>
          <a:prstGeom prst="ellipse">
            <a:avLst/>
          </a:prstGeom>
          <a:solidFill>
            <a:srgbClr val="F3E5F5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/>
              <a:t>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25328" y="51663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Data Freshness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25328" y="53949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333333"/>
                </a:solidFill>
              </a:rPr>
              <a:t>Live auto-fetch pipeline
Scrapes bis.gov.in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A6E"/>
                </a:solidFill>
              </a:rPr>
              <a:t>Resonant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A6E"/>
                </a:solidFill>
              </a:rPr>
              <a:t>MANAKMITRA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91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A3A6E"/>
                </a:solidFill>
              </a:rPr>
              <a:t>SMART INDIA
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@SIH Idea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914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3A6E"/>
                </a:solidFill>
              </a:rPr>
              <a:t>IMPACT AND 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Potential impact on the target audience: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83080"/>
            <a:ext cx="5303520" cy="4389120"/>
          </a:xfrm>
          <a:prstGeom prst="roundRect">
            <a:avLst/>
          </a:prstGeom>
          <a:noFill/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92024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A3A6E"/>
                </a:solidFill>
              </a:rPr>
              <a:t>Potential impact from our MVP implementation.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4028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/>
              <a:t>  </a:t>
            </a:r>
            <a:r>
              <a:rPr sz="900">
                <a:solidFill>
                  <a:srgbClr val="333333"/>
                </a:solidFill>
              </a:rPr>
              <a:t>Current State  </a:t>
            </a:r>
            <a:r>
              <a:rPr sz="800"/>
              <a:t>  </a:t>
            </a:r>
            <a:r>
              <a:rPr sz="900">
                <a:solidFill>
                  <a:srgbClr val="333333"/>
                </a:solidFill>
              </a:rPr>
              <a:t>Target Goal  </a:t>
            </a:r>
            <a:r>
              <a:rPr sz="800"/>
              <a:t>  </a:t>
            </a:r>
            <a:r>
              <a:rPr sz="900">
                <a:solidFill>
                  <a:srgbClr val="333333"/>
                </a:solidFill>
              </a:rPr>
              <a:t>Projected MVP Impact</a:t>
            </a:r>
          </a:p>
        </p:txBody>
      </p:sp>
      <p:sp>
        <p:nvSpPr>
          <p:cNvPr id="15" name="Hexagon 14"/>
          <p:cNvSpPr/>
          <p:nvPr/>
        </p:nvSpPr>
        <p:spPr>
          <a:xfrm rot="5400000">
            <a:off x="1645920" y="2651760"/>
            <a:ext cx="2926080" cy="2926080"/>
          </a:xfrm>
          <a:prstGeom prst="hexagon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 rot="5400000">
            <a:off x="1920240" y="2926080"/>
            <a:ext cx="2377440" cy="2377440"/>
          </a:xfrm>
          <a:prstGeom prst="hexagon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 rot="5400000">
            <a:off x="2194560" y="3200400"/>
            <a:ext cx="1828800" cy="1828800"/>
          </a:xfrm>
          <a:prstGeom prst="hexagon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 rot="5400000">
            <a:off x="2468880" y="3474720"/>
            <a:ext cx="1280160" cy="1280160"/>
          </a:xfrm>
          <a:prstGeom prst="hexagon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 rot="5400000">
            <a:off x="2743200" y="3749039"/>
            <a:ext cx="731520" cy="731520"/>
          </a:xfrm>
          <a:prstGeom prst="hexagon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2606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Compliance Time
Reduction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Understanding
Improvement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3035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Accessibility
Increase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3035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Cost Savings
for MSMEs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Accuracy
Improvement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8346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33333"/>
                </a:solidFill>
              </a:rPr>
              <a:t>Compliance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2880360"/>
            <a:ext cx="329184" cy="13716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20240" y="3035808"/>
            <a:ext cx="987552" cy="137160"/>
          </a:xfrm>
          <a:prstGeom prst="rect">
            <a:avLst/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20240" y="3191256"/>
            <a:ext cx="768096" cy="13716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2461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33333"/>
                </a:solidFill>
              </a:rPr>
              <a:t>Understanding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" y="3291840"/>
            <a:ext cx="219456" cy="13716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20240" y="3447288"/>
            <a:ext cx="987552" cy="137160"/>
          </a:xfrm>
          <a:prstGeom prst="rect">
            <a:avLst/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20240" y="3602736"/>
            <a:ext cx="877824" cy="13716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6576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33333"/>
                </a:solidFill>
              </a:rPr>
              <a:t>Accessibility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0240" y="3703320"/>
            <a:ext cx="329184" cy="13716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20240" y="3858768"/>
            <a:ext cx="877824" cy="137160"/>
          </a:xfrm>
          <a:prstGeom prst="rect">
            <a:avLst/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20240" y="4014215"/>
            <a:ext cx="768096" cy="13716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0690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33333"/>
                </a:solidFill>
              </a:rPr>
              <a:t>Cost Savings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4114800"/>
            <a:ext cx="219456" cy="13716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20240" y="4270248"/>
            <a:ext cx="877824" cy="137160"/>
          </a:xfrm>
          <a:prstGeom prst="rect">
            <a:avLst/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20240" y="4425696"/>
            <a:ext cx="658368" cy="13716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4805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33333"/>
                </a:solidFill>
              </a:rPr>
              <a:t>Accuracy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20240" y="4526280"/>
            <a:ext cx="329184" cy="13716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920240" y="4681728"/>
            <a:ext cx="987552" cy="137160"/>
          </a:xfrm>
          <a:prstGeom prst="rect">
            <a:avLst/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920240" y="4837176"/>
            <a:ext cx="768096" cy="13716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0" y="1371600"/>
            <a:ext cx="27432" cy="5029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14173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Benefits of the solution: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178308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FF6B35"/>
                </a:solidFill>
              </a:rPr>
              <a:t>&gt; </a:t>
            </a:r>
            <a:r>
              <a:rPr sz="1100" b="1">
                <a:solidFill>
                  <a:srgbClr val="1A3A6E"/>
                </a:solidFill>
              </a:rPr>
              <a:t>Multilingual Access:</a:t>
            </a:r>
            <a:r>
              <a:rPr sz="1100">
                <a:solidFill>
                  <a:srgbClr val="333333"/>
                </a:solidFill>
              </a:rPr>
              <a:t> Supports 22 Indian languages including Telugu, Hindi, Tamil, Bengali.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6B35"/>
                </a:solidFill>
              </a:rPr>
              <a:t>&gt; </a:t>
            </a:r>
            <a:r>
              <a:rPr sz="1100" b="1">
                <a:solidFill>
                  <a:srgbClr val="1A3A6E"/>
                </a:solidFill>
              </a:rPr>
              <a:t>MSME-Friendly:</a:t>
            </a:r>
            <a:r>
              <a:rPr sz="1100">
                <a:solidFill>
                  <a:srgbClr val="333333"/>
                </a:solidFill>
              </a:rPr>
              <a:t> Free tool for 63M+ MSMEs who cannot afford compliance consultants.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6B35"/>
                </a:solidFill>
              </a:rPr>
              <a:t>&gt; </a:t>
            </a:r>
            <a:r>
              <a:rPr sz="1100" b="1">
                <a:solidFill>
                  <a:srgbClr val="1A3A6E"/>
                </a:solidFill>
              </a:rPr>
              <a:t>Source-Grounded:</a:t>
            </a:r>
            <a:r>
              <a:rPr sz="1100">
                <a:solidFill>
                  <a:srgbClr val="333333"/>
                </a:solidFill>
              </a:rPr>
              <a:t> All responses cite official BIS documents; 97.8% of references verified in a 28-question eval.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6B35"/>
                </a:solidFill>
              </a:rPr>
              <a:t>&gt; </a:t>
            </a:r>
            <a:r>
              <a:rPr sz="1100" b="1">
                <a:solidFill>
                  <a:srgbClr val="1A3A6E"/>
                </a:solidFill>
              </a:rPr>
              <a:t>Always Updated:</a:t>
            </a:r>
            <a:r>
              <a:rPr sz="1100">
                <a:solidFill>
                  <a:srgbClr val="333333"/>
                </a:solidFill>
              </a:rPr>
              <a:t> Live auto-fetch pipeline keeps knowledge base current.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6B35"/>
                </a:solidFill>
              </a:rPr>
              <a:t>&gt; </a:t>
            </a:r>
            <a:r>
              <a:rPr sz="1100" b="1">
                <a:solidFill>
                  <a:srgbClr val="1A3A6E"/>
                </a:solidFill>
              </a:rPr>
              <a:t>24/7 Availability:</a:t>
            </a:r>
            <a:r>
              <a:rPr sz="1100">
                <a:solidFill>
                  <a:srgbClr val="333333"/>
                </a:solidFill>
              </a:rPr>
              <a:t> Always accessible, reducing dependency on BIS office hours.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6B35"/>
                </a:solidFill>
              </a:rPr>
              <a:t>&gt; </a:t>
            </a:r>
            <a:r>
              <a:rPr sz="1100" b="1">
                <a:solidFill>
                  <a:srgbClr val="1A3A6E"/>
                </a:solidFill>
              </a:rPr>
              <a:t>Unified Platform:</a:t>
            </a:r>
            <a:r>
              <a:rPr sz="1100">
                <a:solidFill>
                  <a:srgbClr val="333333"/>
                </a:solidFill>
              </a:rPr>
              <a:t> Standards + certification + labs + AI in one place.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6B35"/>
                </a:solidFill>
              </a:rPr>
              <a:t>&gt; </a:t>
            </a:r>
            <a:r>
              <a:rPr sz="1100" b="1">
                <a:solidFill>
                  <a:srgbClr val="1A3A6E"/>
                </a:solidFill>
              </a:rPr>
              <a:t>Scalable Design:</a:t>
            </a:r>
            <a:r>
              <a:rPr sz="1100">
                <a:solidFill>
                  <a:srgbClr val="333333"/>
                </a:solidFill>
              </a:rPr>
              <a:t> Modular RAG. Adding standards = adding PDFs. No code changes.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251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3A6E"/>
                </a:solidFill>
              </a:rPr>
              <a:t>Major Expenditure Categories: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572000"/>
            <a:ext cx="5486400" cy="27432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  Category          Cost (Rs.)     Budget (%)   Priority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4892040"/>
            <a:ext cx="5486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4910327"/>
            <a:ext cx="5303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333333"/>
                </a:solidFill>
              </a:rPr>
              <a:t>Development           Rs. 1,40,000    36.36%        </a:t>
            </a:r>
            <a:r>
              <a:rPr sz="800" b="1">
                <a:solidFill>
                  <a:srgbClr val="C62828"/>
                </a:solidFill>
              </a:rPr>
              <a:t>High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5148072"/>
            <a:ext cx="548640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5166359"/>
            <a:ext cx="5303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333333"/>
                </a:solidFill>
              </a:rPr>
              <a:t>Cloud Infrastructure  Rs. 1,00,000    25.98%        </a:t>
            </a:r>
            <a:r>
              <a:rPr sz="800" b="1">
                <a:solidFill>
                  <a:srgbClr val="C62828"/>
                </a:solidFill>
              </a:rPr>
              <a:t>High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5404104"/>
            <a:ext cx="5486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5422392"/>
            <a:ext cx="5303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333333"/>
                </a:solidFill>
              </a:rPr>
              <a:t>Data Engineering    Rs. 60,000      15.58%        </a:t>
            </a:r>
            <a:r>
              <a:rPr sz="800" b="1">
                <a:solidFill>
                  <a:srgbClr val="F57F17"/>
                </a:solidFill>
              </a:rPr>
              <a:t>Medium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5660136"/>
            <a:ext cx="548640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5678423"/>
            <a:ext cx="5303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333333"/>
                </a:solidFill>
              </a:rPr>
              <a:t>QA &amp; Testing          Rs. 50,000      12.99%        </a:t>
            </a:r>
            <a:r>
              <a:rPr sz="800" b="1">
                <a:solidFill>
                  <a:srgbClr val="F57F17"/>
                </a:solidFill>
              </a:rPr>
              <a:t>Medium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5916168"/>
            <a:ext cx="5486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60" y="5934455"/>
            <a:ext cx="5303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333333"/>
                </a:solidFill>
              </a:rPr>
              <a:t>Project Management    Rs. 35,000      9.09%         </a:t>
            </a:r>
            <a:r>
              <a:rPr sz="800" b="1">
                <a:solidFill>
                  <a:srgbClr val="F57F17"/>
                </a:solidFill>
              </a:rPr>
              <a:t>Medium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6172200"/>
            <a:ext cx="5486400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60" y="6190488"/>
            <a:ext cx="5303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A3A6E"/>
                </a:solidFill>
              </a:rPr>
              <a:t>Total                 Rs. 3,85,000    100%     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3657600" cy="3657600"/>
          </a:xfrm>
          <a:prstGeom prst="ellipse">
            <a:avLst/>
          </a:prstGeom>
          <a:solidFill>
            <a:srgbClr val="FF6B35">
              <a:lumMod val="12000"/>
              <a:lumOff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THANK </a:t>
            </a:r>
            <a:r>
              <a:rPr sz="4800" b="1">
                <a:solidFill>
                  <a:srgbClr val="FF6B35"/>
                </a:solidFill>
              </a:rPr>
              <a:t>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242316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6517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CCCCCC"/>
                </a:solidFill>
              </a:rPr>
              <a:t>ManakMitra - Making BIS Standards Accessible
to Every Indian Manufacturer</a:t>
            </a:r>
          </a:p>
        </p:txBody>
      </p:sp>
      <p:sp>
        <p:nvSpPr>
          <p:cNvPr id="7" name="Oval 6"/>
          <p:cNvSpPr/>
          <p:nvPr/>
        </p:nvSpPr>
        <p:spPr>
          <a:xfrm>
            <a:off x="5641848" y="3566160"/>
            <a:ext cx="914400" cy="914400"/>
          </a:xfrm>
          <a:prstGeom prst="ellipse">
            <a:avLst/>
          </a:prstGeom>
          <a:solidFill>
            <a:srgbClr val="30508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4572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Pavan Kumar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8920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Team Lead / Full Stack Developer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5303520"/>
            <a:ext cx="4846320" cy="64008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AAAAAA"/>
                </a:solidFill>
              </a:rPr>
              <a:t>Try live at  </a:t>
            </a:r>
            <a:r>
              <a:rPr sz="1400" b="1">
                <a:solidFill>
                  <a:srgbClr val="FF6B35"/>
                </a:solidFill>
              </a:rPr>
              <a:t>sih2026-bis-assistant-ebon.vercel.app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SIH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7432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CCCCCC"/>
                </a:solidFill>
              </a:rPr>
              <a:t>SMART INDIA
HACKATHON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6666"/>
                </a:solidFill>
              </a:rPr>
              <a:t>@SIH Idea submission - Team Resonant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